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ourier Prime" charset="1" panose="00000509000000000000"/>
      <p:regular r:id="rId23"/>
    </p:embeddedFont>
    <p:embeddedFont>
      <p:font typeface="Courier Prime Bold" charset="1" panose="00000809000000000000"/>
      <p:regular r:id="rId24"/>
    </p:embeddedFont>
    <p:embeddedFont>
      <p:font typeface="Courier Prime Italics" charset="1" panose="00000509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3294138" y="4385494"/>
            <a:ext cx="9650362" cy="0"/>
          </a:xfrm>
          <a:prstGeom prst="line">
            <a:avLst/>
          </a:prstGeom>
          <a:ln cap="flat" w="95250">
            <a:solidFill>
              <a:srgbClr val="2D2D35"/>
            </a:solidFill>
            <a:prstDash val="solid"/>
            <a:headEnd type="none" len="sm" w="sm"/>
            <a:tailEnd type="none" len="sm" w="sm"/>
          </a:ln>
        </p:spPr>
      </p:sp>
      <p:grpSp>
        <p:nvGrpSpPr>
          <p:cNvPr name="Group 3" id="3"/>
          <p:cNvGrpSpPr/>
          <p:nvPr/>
        </p:nvGrpSpPr>
        <p:grpSpPr>
          <a:xfrm rot="0">
            <a:off x="14762002" y="-102870"/>
            <a:ext cx="4230823" cy="10389870"/>
            <a:chOff x="0" y="0"/>
            <a:chExt cx="1543416" cy="3790253"/>
          </a:xfrm>
        </p:grpSpPr>
        <p:sp>
          <p:nvSpPr>
            <p:cNvPr name="Freeform 4" id="4"/>
            <p:cNvSpPr/>
            <p:nvPr/>
          </p:nvSpPr>
          <p:spPr>
            <a:xfrm flipH="false" flipV="false" rot="0">
              <a:off x="0" y="0"/>
              <a:ext cx="1543416" cy="3790253"/>
            </a:xfrm>
            <a:custGeom>
              <a:avLst/>
              <a:gdLst/>
              <a:ahLst/>
              <a:cxnLst/>
              <a:rect r="r" b="b" t="t" l="l"/>
              <a:pathLst>
                <a:path h="3790253" w="1543416">
                  <a:moveTo>
                    <a:pt x="0" y="0"/>
                  </a:moveTo>
                  <a:lnTo>
                    <a:pt x="1543416" y="0"/>
                  </a:lnTo>
                  <a:lnTo>
                    <a:pt x="1543416" y="3790253"/>
                  </a:lnTo>
                  <a:lnTo>
                    <a:pt x="0" y="3790253"/>
                  </a:lnTo>
                  <a:close/>
                </a:path>
              </a:pathLst>
            </a:custGeom>
            <a:solidFill>
              <a:srgbClr val="2D2D35"/>
            </a:solidFill>
          </p:spPr>
        </p:sp>
      </p:grpSp>
      <p:sp>
        <p:nvSpPr>
          <p:cNvPr name="AutoShape 5" id="5"/>
          <p:cNvSpPr/>
          <p:nvPr/>
        </p:nvSpPr>
        <p:spPr>
          <a:xfrm rot="0">
            <a:off x="14666595" y="9210675"/>
            <a:ext cx="1539000" cy="0"/>
          </a:xfrm>
          <a:prstGeom prst="line">
            <a:avLst/>
          </a:prstGeom>
          <a:ln cap="flat" w="47625">
            <a:solidFill>
              <a:srgbClr val="FFFFFF"/>
            </a:solidFill>
            <a:prstDash val="solid"/>
            <a:headEnd type="diamond" len="lg" w="lg"/>
            <a:tailEnd type="arrow" len="sm" w="med"/>
          </a:ln>
        </p:spPr>
      </p:sp>
      <p:sp>
        <p:nvSpPr>
          <p:cNvPr name="Freeform 6" id="6"/>
          <p:cNvSpPr/>
          <p:nvPr/>
        </p:nvSpPr>
        <p:spPr>
          <a:xfrm flipH="false" flipV="false" rot="0">
            <a:off x="10603064" y="467214"/>
            <a:ext cx="7143431" cy="4026297"/>
          </a:xfrm>
          <a:custGeom>
            <a:avLst/>
            <a:gdLst/>
            <a:ahLst/>
            <a:cxnLst/>
            <a:rect r="r" b="b" t="t" l="l"/>
            <a:pathLst>
              <a:path h="4026297" w="7143431">
                <a:moveTo>
                  <a:pt x="0" y="0"/>
                </a:moveTo>
                <a:lnTo>
                  <a:pt x="7143431" y="0"/>
                </a:lnTo>
                <a:lnTo>
                  <a:pt x="7143431" y="4026298"/>
                </a:lnTo>
                <a:lnTo>
                  <a:pt x="0" y="4026298"/>
                </a:lnTo>
                <a:lnTo>
                  <a:pt x="0" y="0"/>
                </a:lnTo>
                <a:close/>
              </a:path>
            </a:pathLst>
          </a:custGeom>
          <a:blipFill>
            <a:blip r:embed="rId2">
              <a:alphaModFix amt="85000"/>
            </a:blip>
            <a:stretch>
              <a:fillRect l="0" t="0" r="0" b="0"/>
            </a:stretch>
          </a:blipFill>
          <a:ln w="38100" cap="rnd">
            <a:solidFill>
              <a:srgbClr val="FF3131">
                <a:alpha val="84706"/>
              </a:srgbClr>
            </a:solidFill>
            <a:prstDash val="solid"/>
            <a:round/>
          </a:ln>
        </p:spPr>
      </p:sp>
      <p:sp>
        <p:nvSpPr>
          <p:cNvPr name="TextBox 7" id="7"/>
          <p:cNvSpPr txBox="true"/>
          <p:nvPr/>
        </p:nvSpPr>
        <p:spPr>
          <a:xfrm rot="0">
            <a:off x="2537186" y="2704575"/>
            <a:ext cx="10718760" cy="3947829"/>
          </a:xfrm>
          <a:prstGeom prst="rect">
            <a:avLst/>
          </a:prstGeom>
        </p:spPr>
        <p:txBody>
          <a:bodyPr anchor="t" rtlCol="false" tIns="0" lIns="0" bIns="0" rIns="0">
            <a:spAutoFit/>
          </a:bodyPr>
          <a:lstStyle/>
          <a:p>
            <a:pPr algn="l">
              <a:lnSpc>
                <a:spcPts val="10397"/>
              </a:lnSpc>
            </a:pPr>
            <a:r>
              <a:rPr lang="en-US" sz="9120">
                <a:solidFill>
                  <a:srgbClr val="FFFFFF"/>
                </a:solidFill>
                <a:latin typeface="Courier Prime"/>
                <a:ea typeface="Courier Prime"/>
                <a:cs typeface="Courier Prime"/>
                <a:sym typeface="Courier Prime"/>
              </a:rPr>
              <a:t>Microsoft Malware Prediction</a:t>
            </a:r>
          </a:p>
        </p:txBody>
      </p:sp>
      <p:sp>
        <p:nvSpPr>
          <p:cNvPr name="TextBox 8" id="8"/>
          <p:cNvSpPr txBox="true"/>
          <p:nvPr/>
        </p:nvSpPr>
        <p:spPr>
          <a:xfrm rot="0">
            <a:off x="2415791" y="7091193"/>
            <a:ext cx="2471972" cy="1607392"/>
          </a:xfrm>
          <a:prstGeom prst="rect">
            <a:avLst/>
          </a:prstGeom>
        </p:spPr>
        <p:txBody>
          <a:bodyPr anchor="t" rtlCol="false" tIns="0" lIns="0" bIns="0" rIns="0">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
        <p:nvSpPr>
          <p:cNvPr name="TextBox 9" id="9"/>
          <p:cNvSpPr txBox="true"/>
          <p:nvPr/>
        </p:nvSpPr>
        <p:spPr>
          <a:xfrm rot="0">
            <a:off x="3919406" y="7453584"/>
            <a:ext cx="10747189" cy="1536066"/>
          </a:xfrm>
          <a:prstGeom prst="rect">
            <a:avLst/>
          </a:prstGeom>
        </p:spPr>
        <p:txBody>
          <a:bodyPr anchor="t" rtlCol="false" tIns="0" lIns="0" bIns="0" rIns="0">
            <a:spAutoFit/>
          </a:bodyPr>
          <a:lstStyle/>
          <a:p>
            <a:pPr algn="l">
              <a:lnSpc>
                <a:spcPts val="4059"/>
              </a:lnSpc>
            </a:pPr>
            <a:r>
              <a:rPr lang="en-US" sz="2899">
                <a:solidFill>
                  <a:srgbClr val="FF914D"/>
                </a:solidFill>
                <a:latin typeface="Courier Prime"/>
                <a:ea typeface="Courier Prime"/>
                <a:cs typeface="Courier Prime"/>
                <a:sym typeface="Courier Prime"/>
              </a:rPr>
              <a:t>&lt;Por="Carmen Johana Calderón Chona</a:t>
            </a:r>
          </a:p>
          <a:p>
            <a:pPr algn="l">
              <a:lnSpc>
                <a:spcPts val="4059"/>
              </a:lnSpc>
            </a:pPr>
            <a:r>
              <a:rPr lang="en-US" sz="2899">
                <a:solidFill>
                  <a:srgbClr val="FF914D"/>
                </a:solidFill>
                <a:latin typeface="Courier Prime"/>
                <a:ea typeface="Courier Prime"/>
                <a:cs typeface="Courier Prime"/>
                <a:sym typeface="Courier Prime"/>
              </a:rPr>
              <a:t>Mateo Cañavera Aluma</a:t>
            </a:r>
          </a:p>
          <a:p>
            <a:pPr algn="l">
              <a:lnSpc>
                <a:spcPts val="4059"/>
              </a:lnSpc>
            </a:pPr>
            <a:r>
              <a:rPr lang="en-US" sz="2899">
                <a:solidFill>
                  <a:srgbClr val="FF914D"/>
                </a:solidFill>
                <a:latin typeface="Courier Prime"/>
                <a:ea typeface="Courier Prime"/>
                <a:cs typeface="Courier Prime"/>
                <a:sym typeface="Courier Prime"/>
              </a:rPr>
              <a:t>Miller Alexis Quintero García"/&gt;</a:t>
            </a:r>
          </a:p>
        </p:txBody>
      </p:sp>
      <p:sp>
        <p:nvSpPr>
          <p:cNvPr name="TextBox 10" id="10"/>
          <p:cNvSpPr txBox="true"/>
          <p:nvPr/>
        </p:nvSpPr>
        <p:spPr>
          <a:xfrm rot="0">
            <a:off x="1996722" y="952500"/>
            <a:ext cx="11259224" cy="615030"/>
          </a:xfrm>
          <a:prstGeom prst="rect">
            <a:avLst/>
          </a:prstGeom>
        </p:spPr>
        <p:txBody>
          <a:bodyPr anchor="t" rtlCol="false" tIns="0" lIns="0" bIns="0" rIns="0">
            <a:spAutoFit/>
          </a:bodyPr>
          <a:lstStyle/>
          <a:p>
            <a:pPr algn="l">
              <a:lnSpc>
                <a:spcPts val="4950"/>
              </a:lnSpc>
            </a:pPr>
            <a:r>
              <a:rPr lang="en-US" sz="3536" b="true">
                <a:solidFill>
                  <a:srgbClr val="8F8F8F"/>
                </a:solidFill>
                <a:latin typeface="Courier Prime Bold"/>
                <a:ea typeface="Courier Prime Bold"/>
                <a:cs typeface="Courier Prime Bold"/>
                <a:sym typeface="Courier Prime Bold"/>
              </a:rPr>
              <a:t>&lt;!--APRENDIZAJE AUTOMÁTICO--&gt;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9144000" y="-102870"/>
            <a:ext cx="9314578" cy="10389870"/>
            <a:chOff x="0" y="0"/>
            <a:chExt cx="3397983" cy="3790253"/>
          </a:xfrm>
        </p:grpSpPr>
        <p:sp>
          <p:nvSpPr>
            <p:cNvPr name="Freeform 3" id="3"/>
            <p:cNvSpPr/>
            <p:nvPr/>
          </p:nvSpPr>
          <p:spPr>
            <a:xfrm flipH="false" flipV="false" rot="0">
              <a:off x="0" y="0"/>
              <a:ext cx="3397983" cy="3790253"/>
            </a:xfrm>
            <a:custGeom>
              <a:avLst/>
              <a:gdLst/>
              <a:ahLst/>
              <a:cxnLst/>
              <a:rect r="r" b="b" t="t" l="l"/>
              <a:pathLst>
                <a:path h="3790253" w="3397983">
                  <a:moveTo>
                    <a:pt x="0" y="0"/>
                  </a:moveTo>
                  <a:lnTo>
                    <a:pt x="3397983" y="0"/>
                  </a:lnTo>
                  <a:lnTo>
                    <a:pt x="3397983" y="3790253"/>
                  </a:lnTo>
                  <a:lnTo>
                    <a:pt x="0" y="3790253"/>
                  </a:lnTo>
                  <a:close/>
                </a:path>
              </a:pathLst>
            </a:custGeom>
            <a:solidFill>
              <a:srgbClr val="2D2D35"/>
            </a:solidFill>
          </p:spPr>
        </p:sp>
      </p:grpSp>
      <p:sp>
        <p:nvSpPr>
          <p:cNvPr name="Freeform 4" id="4"/>
          <p:cNvSpPr/>
          <p:nvPr/>
        </p:nvSpPr>
        <p:spPr>
          <a:xfrm flipH="false" flipV="false" rot="0">
            <a:off x="2250709" y="4357117"/>
            <a:ext cx="4022731" cy="4022731"/>
          </a:xfrm>
          <a:custGeom>
            <a:avLst/>
            <a:gdLst/>
            <a:ahLst/>
            <a:cxnLst/>
            <a:rect r="r" b="b" t="t" l="l"/>
            <a:pathLst>
              <a:path h="4022731" w="4022731">
                <a:moveTo>
                  <a:pt x="0" y="0"/>
                </a:moveTo>
                <a:lnTo>
                  <a:pt x="4022731" y="0"/>
                </a:lnTo>
                <a:lnTo>
                  <a:pt x="4022731" y="4022731"/>
                </a:lnTo>
                <a:lnTo>
                  <a:pt x="0" y="4022731"/>
                </a:lnTo>
                <a:lnTo>
                  <a:pt x="0" y="0"/>
                </a:lnTo>
                <a:close/>
              </a:path>
            </a:pathLst>
          </a:custGeom>
          <a:blipFill>
            <a:blip r:embed="rId2"/>
            <a:stretch>
              <a:fillRect l="0" t="0" r="0" b="0"/>
            </a:stretch>
          </a:blipFill>
        </p:spPr>
      </p:sp>
      <p:sp>
        <p:nvSpPr>
          <p:cNvPr name="TextBox 5" id="5"/>
          <p:cNvSpPr txBox="true"/>
          <p:nvPr/>
        </p:nvSpPr>
        <p:spPr>
          <a:xfrm rot="0">
            <a:off x="2250709" y="2221042"/>
            <a:ext cx="5179073" cy="893445"/>
          </a:xfrm>
          <a:prstGeom prst="rect">
            <a:avLst/>
          </a:prstGeom>
        </p:spPr>
        <p:txBody>
          <a:bodyPr anchor="t" rtlCol="false" tIns="0" lIns="0" bIns="0" rIns="0">
            <a:spAutoFit/>
          </a:bodyPr>
          <a:lstStyle/>
          <a:p>
            <a:pPr algn="l">
              <a:lnSpc>
                <a:spcPts val="6839"/>
              </a:lnSpc>
            </a:pPr>
            <a:r>
              <a:rPr lang="en-US" sz="6000">
                <a:solidFill>
                  <a:srgbClr val="FFFFFF"/>
                </a:solidFill>
                <a:latin typeface="Courier Prime"/>
                <a:ea typeface="Courier Prime"/>
                <a:cs typeface="Courier Prime"/>
                <a:sym typeface="Courier Prime"/>
              </a:rPr>
              <a:t>Contenido</a:t>
            </a:r>
          </a:p>
        </p:txBody>
      </p:sp>
      <p:sp>
        <p:nvSpPr>
          <p:cNvPr name="TextBox 6" id="6"/>
          <p:cNvSpPr txBox="true"/>
          <p:nvPr/>
        </p:nvSpPr>
        <p:spPr>
          <a:xfrm rot="0">
            <a:off x="10527076" y="193162"/>
            <a:ext cx="6124092" cy="8860155"/>
          </a:xfrm>
          <a:prstGeom prst="rect">
            <a:avLst/>
          </a:prstGeom>
        </p:spPr>
        <p:txBody>
          <a:bodyPr anchor="t" rtlCol="false" tIns="0" lIns="0" bIns="0" rIns="0">
            <a:spAutoFit/>
          </a:bodyPr>
          <a:lstStyle/>
          <a:p>
            <a:pPr algn="l">
              <a:lnSpc>
                <a:spcPts val="5460"/>
              </a:lnSpc>
            </a:pPr>
            <a:r>
              <a:rPr lang="en-US" sz="3000">
                <a:solidFill>
                  <a:srgbClr val="FFFFFF"/>
                </a:solidFill>
                <a:latin typeface="Courier Prime"/>
                <a:ea typeface="Courier Prime"/>
                <a:cs typeface="Courier Prime"/>
                <a:sym typeface="Courier Prime"/>
              </a:rPr>
              <a:t>Contexto del problema</a:t>
            </a:r>
          </a:p>
          <a:p>
            <a:pPr algn="l">
              <a:lnSpc>
                <a:spcPts val="5460"/>
              </a:lnSpc>
            </a:pPr>
            <a:r>
              <a:rPr lang="en-US" sz="3000">
                <a:solidFill>
                  <a:srgbClr val="FFFFFF"/>
                </a:solidFill>
                <a:latin typeface="Courier Prime"/>
                <a:ea typeface="Courier Prime"/>
                <a:cs typeface="Courier Prime"/>
                <a:sym typeface="Courier Prime"/>
              </a:rPr>
              <a:t>Pregunta investigativa</a:t>
            </a:r>
          </a:p>
          <a:p>
            <a:pPr algn="l">
              <a:lnSpc>
                <a:spcPts val="5460"/>
              </a:lnSpc>
            </a:pPr>
            <a:r>
              <a:rPr lang="en-US" sz="3000">
                <a:solidFill>
                  <a:srgbClr val="FFFFFF"/>
                </a:solidFill>
                <a:latin typeface="Courier Prime"/>
                <a:ea typeface="Courier Prime"/>
                <a:cs typeface="Courier Prime"/>
                <a:sym typeface="Courier Prime"/>
              </a:rPr>
              <a:t>Planteamiento</a:t>
            </a:r>
          </a:p>
          <a:p>
            <a:pPr algn="l">
              <a:lnSpc>
                <a:spcPts val="5460"/>
              </a:lnSpc>
            </a:pPr>
            <a:r>
              <a:rPr lang="en-US" sz="3000">
                <a:solidFill>
                  <a:srgbClr val="FFFFFF"/>
                </a:solidFill>
                <a:latin typeface="Courier Prime"/>
                <a:ea typeface="Courier Prime"/>
                <a:cs typeface="Courier Prime"/>
                <a:sym typeface="Courier Prime"/>
              </a:rPr>
              <a:t>EDA</a:t>
            </a:r>
          </a:p>
          <a:p>
            <a:pPr algn="l">
              <a:lnSpc>
                <a:spcPts val="5460"/>
              </a:lnSpc>
            </a:pPr>
            <a:r>
              <a:rPr lang="en-US" sz="3000">
                <a:solidFill>
                  <a:srgbClr val="FFFFFF"/>
                </a:solidFill>
                <a:latin typeface="Courier Prime"/>
                <a:ea typeface="Courier Prime"/>
                <a:cs typeface="Courier Prime"/>
                <a:sym typeface="Courier Prime"/>
              </a:rPr>
              <a:t>Limpieza y Transformación</a:t>
            </a:r>
          </a:p>
          <a:p>
            <a:pPr algn="l">
              <a:lnSpc>
                <a:spcPts val="5460"/>
              </a:lnSpc>
            </a:pPr>
            <a:r>
              <a:rPr lang="en-US" sz="3000">
                <a:solidFill>
                  <a:srgbClr val="FFFFFF"/>
                </a:solidFill>
                <a:latin typeface="Courier Prime"/>
                <a:ea typeface="Courier Prime"/>
                <a:cs typeface="Courier Prime"/>
                <a:sym typeface="Courier Prime"/>
              </a:rPr>
              <a:t>Ingenieria de caracteristicas</a:t>
            </a:r>
          </a:p>
          <a:p>
            <a:pPr algn="l">
              <a:lnSpc>
                <a:spcPts val="5460"/>
              </a:lnSpc>
            </a:pPr>
            <a:r>
              <a:rPr lang="en-US" sz="3000">
                <a:solidFill>
                  <a:srgbClr val="FFFFFF"/>
                </a:solidFill>
                <a:latin typeface="Courier Prime"/>
                <a:ea typeface="Courier Prime"/>
                <a:cs typeface="Courier Prime"/>
                <a:sym typeface="Courier Prime"/>
              </a:rPr>
              <a:t>Ajuste de hiperparámetros</a:t>
            </a:r>
          </a:p>
          <a:p>
            <a:pPr algn="l">
              <a:lnSpc>
                <a:spcPts val="5460"/>
              </a:lnSpc>
            </a:pPr>
            <a:r>
              <a:rPr lang="en-US" sz="3000">
                <a:solidFill>
                  <a:srgbClr val="FFFFFF"/>
                </a:solidFill>
                <a:latin typeface="Courier Prime"/>
                <a:ea typeface="Courier Prime"/>
                <a:cs typeface="Courier Prime"/>
                <a:sym typeface="Courier Prime"/>
              </a:rPr>
              <a:t>Entrenamiento de modelos</a:t>
            </a:r>
          </a:p>
          <a:p>
            <a:pPr algn="l">
              <a:lnSpc>
                <a:spcPts val="5460"/>
              </a:lnSpc>
            </a:pPr>
            <a:r>
              <a:rPr lang="en-US" sz="3000">
                <a:solidFill>
                  <a:srgbClr val="FFFFFF"/>
                </a:solidFill>
                <a:latin typeface="Courier Prime"/>
                <a:ea typeface="Courier Prime"/>
                <a:cs typeface="Courier Prime"/>
                <a:sym typeface="Courier Prime"/>
              </a:rPr>
              <a:t>Evaluación y validación de métricas para el LightGBM</a:t>
            </a:r>
          </a:p>
          <a:p>
            <a:pPr algn="l">
              <a:lnSpc>
                <a:spcPts val="5460"/>
              </a:lnSpc>
            </a:pPr>
            <a:r>
              <a:rPr lang="en-US" sz="3000">
                <a:solidFill>
                  <a:srgbClr val="FFFFFF"/>
                </a:solidFill>
                <a:latin typeface="Courier Prime"/>
                <a:ea typeface="Courier Prime"/>
                <a:cs typeface="Courier Prime"/>
                <a:sym typeface="Courier Prime"/>
              </a:rPr>
              <a:t>Conclusiones</a:t>
            </a:r>
          </a:p>
          <a:p>
            <a:pPr algn="l">
              <a:lnSpc>
                <a:spcPts val="5460"/>
              </a:lnSpc>
            </a:pPr>
          </a:p>
        </p:txBody>
      </p:sp>
      <p:sp>
        <p:nvSpPr>
          <p:cNvPr name="TextBox 7" id="7"/>
          <p:cNvSpPr txBox="true"/>
          <p:nvPr/>
        </p:nvSpPr>
        <p:spPr>
          <a:xfrm rot="0">
            <a:off x="9841848" y="193162"/>
            <a:ext cx="456902" cy="8860155"/>
          </a:xfrm>
          <a:prstGeom prst="rect">
            <a:avLst/>
          </a:prstGeom>
        </p:spPr>
        <p:txBody>
          <a:bodyPr anchor="t" rtlCol="false" tIns="0" lIns="0" bIns="0" rIns="0">
            <a:spAutoFit/>
          </a:bodyPr>
          <a:lstStyle/>
          <a:p>
            <a:pPr algn="r">
              <a:lnSpc>
                <a:spcPts val="5460"/>
              </a:lnSpc>
            </a:pPr>
            <a:r>
              <a:rPr lang="en-US" sz="3000">
                <a:solidFill>
                  <a:srgbClr val="FF914D"/>
                </a:solidFill>
                <a:latin typeface="Courier Prime"/>
                <a:ea typeface="Courier Prime"/>
                <a:cs typeface="Courier Prime"/>
                <a:sym typeface="Courier Prime"/>
              </a:rPr>
              <a:t>01</a:t>
            </a:r>
          </a:p>
          <a:p>
            <a:pPr algn="r">
              <a:lnSpc>
                <a:spcPts val="5460"/>
              </a:lnSpc>
            </a:pPr>
            <a:r>
              <a:rPr lang="en-US" sz="3000">
                <a:solidFill>
                  <a:srgbClr val="FF914D"/>
                </a:solidFill>
                <a:latin typeface="Courier Prime"/>
                <a:ea typeface="Courier Prime"/>
                <a:cs typeface="Courier Prime"/>
                <a:sym typeface="Courier Prime"/>
              </a:rPr>
              <a:t>02</a:t>
            </a:r>
          </a:p>
          <a:p>
            <a:pPr algn="r">
              <a:lnSpc>
                <a:spcPts val="5460"/>
              </a:lnSpc>
            </a:pPr>
            <a:r>
              <a:rPr lang="en-US" sz="3000">
                <a:solidFill>
                  <a:srgbClr val="FF914D"/>
                </a:solidFill>
                <a:latin typeface="Courier Prime"/>
                <a:ea typeface="Courier Prime"/>
                <a:cs typeface="Courier Prime"/>
                <a:sym typeface="Courier Prime"/>
              </a:rPr>
              <a:t>03</a:t>
            </a:r>
          </a:p>
          <a:p>
            <a:pPr algn="r">
              <a:lnSpc>
                <a:spcPts val="5460"/>
              </a:lnSpc>
            </a:pPr>
            <a:r>
              <a:rPr lang="en-US" sz="3000">
                <a:solidFill>
                  <a:srgbClr val="FF914D"/>
                </a:solidFill>
                <a:latin typeface="Courier Prime"/>
                <a:ea typeface="Courier Prime"/>
                <a:cs typeface="Courier Prime"/>
                <a:sym typeface="Courier Prime"/>
              </a:rPr>
              <a:t>04</a:t>
            </a:r>
          </a:p>
          <a:p>
            <a:pPr algn="r">
              <a:lnSpc>
                <a:spcPts val="5460"/>
              </a:lnSpc>
            </a:pPr>
            <a:r>
              <a:rPr lang="en-US" sz="3000">
                <a:solidFill>
                  <a:srgbClr val="FF914D"/>
                </a:solidFill>
                <a:latin typeface="Courier Prime"/>
                <a:ea typeface="Courier Prime"/>
                <a:cs typeface="Courier Prime"/>
                <a:sym typeface="Courier Prime"/>
              </a:rPr>
              <a:t>05</a:t>
            </a:r>
          </a:p>
          <a:p>
            <a:pPr algn="r">
              <a:lnSpc>
                <a:spcPts val="5460"/>
              </a:lnSpc>
            </a:pPr>
            <a:r>
              <a:rPr lang="en-US" sz="3000">
                <a:solidFill>
                  <a:srgbClr val="FF914D"/>
                </a:solidFill>
                <a:latin typeface="Courier Prime"/>
                <a:ea typeface="Courier Prime"/>
                <a:cs typeface="Courier Prime"/>
                <a:sym typeface="Courier Prime"/>
              </a:rPr>
              <a:t>06</a:t>
            </a:r>
          </a:p>
          <a:p>
            <a:pPr algn="r">
              <a:lnSpc>
                <a:spcPts val="5460"/>
              </a:lnSpc>
            </a:pPr>
            <a:r>
              <a:rPr lang="en-US" sz="3000">
                <a:solidFill>
                  <a:srgbClr val="FF914D"/>
                </a:solidFill>
                <a:latin typeface="Courier Prime"/>
                <a:ea typeface="Courier Prime"/>
                <a:cs typeface="Courier Prime"/>
                <a:sym typeface="Courier Prime"/>
              </a:rPr>
              <a:t>07</a:t>
            </a:r>
          </a:p>
          <a:p>
            <a:pPr algn="r">
              <a:lnSpc>
                <a:spcPts val="5460"/>
              </a:lnSpc>
            </a:pPr>
            <a:r>
              <a:rPr lang="en-US" sz="3000">
                <a:solidFill>
                  <a:srgbClr val="FF914D"/>
                </a:solidFill>
                <a:latin typeface="Courier Prime"/>
                <a:ea typeface="Courier Prime"/>
                <a:cs typeface="Courier Prime"/>
                <a:sym typeface="Courier Prime"/>
              </a:rPr>
              <a:t>08</a:t>
            </a:r>
          </a:p>
          <a:p>
            <a:pPr algn="r">
              <a:lnSpc>
                <a:spcPts val="5460"/>
              </a:lnSpc>
            </a:pPr>
            <a:r>
              <a:rPr lang="en-US" sz="3000">
                <a:solidFill>
                  <a:srgbClr val="FF914D"/>
                </a:solidFill>
                <a:latin typeface="Courier Prime"/>
                <a:ea typeface="Courier Prime"/>
                <a:cs typeface="Courier Prime"/>
                <a:sym typeface="Courier Prime"/>
              </a:rPr>
              <a:t>09</a:t>
            </a:r>
          </a:p>
          <a:p>
            <a:pPr algn="r">
              <a:lnSpc>
                <a:spcPts val="5460"/>
              </a:lnSpc>
            </a:pPr>
            <a:r>
              <a:rPr lang="en-US" sz="3000">
                <a:solidFill>
                  <a:srgbClr val="FF914D"/>
                </a:solidFill>
                <a:latin typeface="Courier Prime"/>
                <a:ea typeface="Courier Prime"/>
                <a:cs typeface="Courier Prime"/>
                <a:sym typeface="Courier Prime"/>
              </a:rPr>
              <a:t>10</a:t>
            </a:r>
          </a:p>
          <a:p>
            <a:pPr algn="r">
              <a:lnSpc>
                <a:spcPts val="5460"/>
              </a:lnSpc>
            </a:pPr>
          </a:p>
          <a:p>
            <a:pPr algn="r">
              <a:lnSpc>
                <a:spcPts val="5460"/>
              </a:lnSpc>
            </a:pPr>
            <a:r>
              <a:rPr lang="en-US" sz="3000">
                <a:solidFill>
                  <a:srgbClr val="FF914D"/>
                </a:solidFill>
                <a:latin typeface="Courier Prime"/>
                <a:ea typeface="Courier Prime"/>
                <a:cs typeface="Courier Prime"/>
                <a:sym typeface="Courier Prime"/>
              </a:rPr>
              <a:t>11</a:t>
            </a:r>
          </a:p>
          <a:p>
            <a:pPr algn="r">
              <a:lnSpc>
                <a:spcPts val="546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70578" y="-102870"/>
            <a:ext cx="9314578" cy="10389870"/>
            <a:chOff x="0" y="0"/>
            <a:chExt cx="3397983" cy="3790253"/>
          </a:xfrm>
        </p:grpSpPr>
        <p:sp>
          <p:nvSpPr>
            <p:cNvPr name="Freeform 3" id="3"/>
            <p:cNvSpPr/>
            <p:nvPr/>
          </p:nvSpPr>
          <p:spPr>
            <a:xfrm flipH="false" flipV="false" rot="0">
              <a:off x="0" y="0"/>
              <a:ext cx="3397983" cy="3790253"/>
            </a:xfrm>
            <a:custGeom>
              <a:avLst/>
              <a:gdLst/>
              <a:ahLst/>
              <a:cxnLst/>
              <a:rect r="r" b="b" t="t" l="l"/>
              <a:pathLst>
                <a:path h="3790253" w="3397983">
                  <a:moveTo>
                    <a:pt x="0" y="0"/>
                  </a:moveTo>
                  <a:lnTo>
                    <a:pt x="3397983" y="0"/>
                  </a:lnTo>
                  <a:lnTo>
                    <a:pt x="3397983" y="3790253"/>
                  </a:lnTo>
                  <a:lnTo>
                    <a:pt x="0" y="3790253"/>
                  </a:lnTo>
                  <a:close/>
                </a:path>
              </a:pathLst>
            </a:custGeom>
            <a:solidFill>
              <a:srgbClr val="2D2D35"/>
            </a:solidFill>
          </p:spPr>
        </p:sp>
      </p:grpSp>
      <p:sp>
        <p:nvSpPr>
          <p:cNvPr name="AutoShape 4" id="4"/>
          <p:cNvSpPr/>
          <p:nvPr/>
        </p:nvSpPr>
        <p:spPr>
          <a:xfrm rot="5400000">
            <a:off x="6783951" y="3553290"/>
            <a:ext cx="7985953" cy="0"/>
          </a:xfrm>
          <a:prstGeom prst="line">
            <a:avLst/>
          </a:prstGeom>
          <a:ln cap="flat" w="95250">
            <a:solidFill>
              <a:srgbClr val="2D2D35"/>
            </a:solidFill>
            <a:prstDash val="solid"/>
            <a:headEnd type="none" len="sm" w="sm"/>
            <a:tailEnd type="none" len="sm" w="sm"/>
          </a:ln>
        </p:spPr>
      </p:sp>
      <p:sp>
        <p:nvSpPr>
          <p:cNvPr name="Freeform 5" id="5"/>
          <p:cNvSpPr/>
          <p:nvPr/>
        </p:nvSpPr>
        <p:spPr>
          <a:xfrm flipH="false" flipV="false" rot="0">
            <a:off x="11018215" y="2475115"/>
            <a:ext cx="7011263" cy="4671254"/>
          </a:xfrm>
          <a:custGeom>
            <a:avLst/>
            <a:gdLst/>
            <a:ahLst/>
            <a:cxnLst/>
            <a:rect r="r" b="b" t="t" l="l"/>
            <a:pathLst>
              <a:path h="4671254" w="7011263">
                <a:moveTo>
                  <a:pt x="0" y="0"/>
                </a:moveTo>
                <a:lnTo>
                  <a:pt x="7011263" y="0"/>
                </a:lnTo>
                <a:lnTo>
                  <a:pt x="7011263" y="4671254"/>
                </a:lnTo>
                <a:lnTo>
                  <a:pt x="0" y="4671254"/>
                </a:lnTo>
                <a:lnTo>
                  <a:pt x="0" y="0"/>
                </a:lnTo>
                <a:close/>
              </a:path>
            </a:pathLst>
          </a:custGeom>
          <a:blipFill>
            <a:blip r:embed="rId2"/>
            <a:stretch>
              <a:fillRect l="0" t="0" r="0" b="0"/>
            </a:stretch>
          </a:blipFill>
        </p:spPr>
      </p:sp>
      <p:sp>
        <p:nvSpPr>
          <p:cNvPr name="TextBox 6" id="6"/>
          <p:cNvSpPr txBox="true"/>
          <p:nvPr/>
        </p:nvSpPr>
        <p:spPr>
          <a:xfrm rot="0">
            <a:off x="1028700" y="1047750"/>
            <a:ext cx="7221023"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Contexto del problema {</a:t>
            </a:r>
          </a:p>
        </p:txBody>
      </p:sp>
      <p:sp>
        <p:nvSpPr>
          <p:cNvPr name="TextBox 7" id="7"/>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8" id="8"/>
          <p:cNvSpPr txBox="true"/>
          <p:nvPr/>
        </p:nvSpPr>
        <p:spPr>
          <a:xfrm rot="0">
            <a:off x="846519" y="2096643"/>
            <a:ext cx="7775003" cy="7712075"/>
          </a:xfrm>
          <a:prstGeom prst="rect">
            <a:avLst/>
          </a:prstGeom>
        </p:spPr>
        <p:txBody>
          <a:bodyPr anchor="t" rtlCol="false" tIns="0" lIns="0" bIns="0" rIns="0">
            <a:spAutoFit/>
          </a:bodyPr>
          <a:lstStyle/>
          <a:p>
            <a:pPr algn="just">
              <a:lnSpc>
                <a:spcPts val="3399"/>
              </a:lnSpc>
            </a:pPr>
            <a:r>
              <a:rPr lang="en-US" sz="2499">
                <a:solidFill>
                  <a:srgbClr val="FFFFFF"/>
                </a:solidFill>
                <a:latin typeface="Courier Prime"/>
                <a:ea typeface="Courier Prime"/>
                <a:cs typeface="Courier Prime"/>
                <a:sym typeface="Courier Prime"/>
              </a:rPr>
              <a:t>En el campo de la ciberseguridad, uno de los grandes desafíos es la </a:t>
            </a:r>
            <a:r>
              <a:rPr lang="en-US" sz="2499" b="true">
                <a:solidFill>
                  <a:srgbClr val="FFFFFF"/>
                </a:solidFill>
                <a:latin typeface="Courier Prime Bold"/>
                <a:ea typeface="Courier Prime Bold"/>
                <a:cs typeface="Courier Prime Bold"/>
                <a:sym typeface="Courier Prime Bold"/>
              </a:rPr>
              <a:t>detección temprana de dispositivos potencialmente vulnerables a infecciones por malware</a:t>
            </a:r>
            <a:r>
              <a:rPr lang="en-US" sz="2499">
                <a:solidFill>
                  <a:srgbClr val="FFFFFF"/>
                </a:solidFill>
                <a:latin typeface="Courier Prime"/>
                <a:ea typeface="Courier Prime"/>
                <a:cs typeface="Courier Prime"/>
                <a:sym typeface="Courier Prime"/>
              </a:rPr>
              <a:t> (software malicioso). Microsoft, como uno de los principales proveedores de sistemas operativos, recopila datos de telemetría de millones de dispositivos Windows a través de herramientas como </a:t>
            </a:r>
            <a:r>
              <a:rPr lang="en-US" sz="2499" b="true">
                <a:solidFill>
                  <a:srgbClr val="FFFFFF"/>
                </a:solidFill>
                <a:latin typeface="Courier Prime Bold"/>
                <a:ea typeface="Courier Prime Bold"/>
                <a:cs typeface="Courier Prime Bold"/>
                <a:sym typeface="Courier Prime Bold"/>
              </a:rPr>
              <a:t>Windows Defender</a:t>
            </a:r>
            <a:r>
              <a:rPr lang="en-US" sz="2499">
                <a:solidFill>
                  <a:srgbClr val="FFFFFF"/>
                </a:solidFill>
                <a:latin typeface="Courier Prime"/>
                <a:ea typeface="Courier Prime"/>
                <a:cs typeface="Courier Prime"/>
                <a:sym typeface="Courier Prime"/>
              </a:rPr>
              <a:t>. Esta información incluye características técnicas del dipositivo.  Con estos datos, Microsoft ha creado un dataset que incluye registros de millones de dispositivos, algunos de los cuales han sido infectados por malware, mientras que otros permanecieron seguros.</a:t>
            </a:r>
          </a:p>
          <a:p>
            <a:pPr algn="l">
              <a:lnSpc>
                <a:spcPts val="33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0" y="-102870"/>
            <a:ext cx="9314578" cy="10389870"/>
            <a:chOff x="0" y="0"/>
            <a:chExt cx="3397983" cy="3790253"/>
          </a:xfrm>
        </p:grpSpPr>
        <p:sp>
          <p:nvSpPr>
            <p:cNvPr name="Freeform 3" id="3"/>
            <p:cNvSpPr/>
            <p:nvPr/>
          </p:nvSpPr>
          <p:spPr>
            <a:xfrm flipH="false" flipV="false" rot="0">
              <a:off x="0" y="0"/>
              <a:ext cx="3397983" cy="3790253"/>
            </a:xfrm>
            <a:custGeom>
              <a:avLst/>
              <a:gdLst/>
              <a:ahLst/>
              <a:cxnLst/>
              <a:rect r="r" b="b" t="t" l="l"/>
              <a:pathLst>
                <a:path h="3790253" w="3397983">
                  <a:moveTo>
                    <a:pt x="0" y="0"/>
                  </a:moveTo>
                  <a:lnTo>
                    <a:pt x="3397983" y="0"/>
                  </a:lnTo>
                  <a:lnTo>
                    <a:pt x="3397983" y="3790253"/>
                  </a:lnTo>
                  <a:lnTo>
                    <a:pt x="0" y="3790253"/>
                  </a:lnTo>
                  <a:close/>
                </a:path>
              </a:pathLst>
            </a:custGeom>
            <a:solidFill>
              <a:srgbClr val="2D2D35"/>
            </a:solidFill>
          </p:spPr>
        </p:sp>
      </p:grpSp>
      <p:sp>
        <p:nvSpPr>
          <p:cNvPr name="AutoShape 4" id="4"/>
          <p:cNvSpPr/>
          <p:nvPr/>
        </p:nvSpPr>
        <p:spPr>
          <a:xfrm rot="5400000">
            <a:off x="6783951" y="3553290"/>
            <a:ext cx="7985953" cy="0"/>
          </a:xfrm>
          <a:prstGeom prst="line">
            <a:avLst/>
          </a:prstGeom>
          <a:ln cap="flat" w="95250">
            <a:solidFill>
              <a:srgbClr val="2D2D35"/>
            </a:solidFill>
            <a:prstDash val="solid"/>
            <a:headEnd type="none" len="sm" w="sm"/>
            <a:tailEnd type="none" len="sm" w="sm"/>
          </a:ln>
        </p:spPr>
      </p:sp>
      <p:sp>
        <p:nvSpPr>
          <p:cNvPr name="Freeform 5" id="5"/>
          <p:cNvSpPr/>
          <p:nvPr/>
        </p:nvSpPr>
        <p:spPr>
          <a:xfrm flipH="false" flipV="false" rot="0">
            <a:off x="10776928" y="2043360"/>
            <a:ext cx="6482372" cy="5550531"/>
          </a:xfrm>
          <a:custGeom>
            <a:avLst/>
            <a:gdLst/>
            <a:ahLst/>
            <a:cxnLst/>
            <a:rect r="r" b="b" t="t" l="l"/>
            <a:pathLst>
              <a:path h="5550531" w="6482372">
                <a:moveTo>
                  <a:pt x="0" y="0"/>
                </a:moveTo>
                <a:lnTo>
                  <a:pt x="6482372" y="0"/>
                </a:lnTo>
                <a:lnTo>
                  <a:pt x="6482372" y="5550532"/>
                </a:lnTo>
                <a:lnTo>
                  <a:pt x="0" y="5550532"/>
                </a:lnTo>
                <a:lnTo>
                  <a:pt x="0" y="0"/>
                </a:lnTo>
                <a:close/>
              </a:path>
            </a:pathLst>
          </a:custGeom>
          <a:blipFill>
            <a:blip r:embed="rId2"/>
            <a:stretch>
              <a:fillRect l="0" t="0" r="0" b="0"/>
            </a:stretch>
          </a:blipFill>
        </p:spPr>
      </p:sp>
      <p:sp>
        <p:nvSpPr>
          <p:cNvPr name="TextBox 6" id="6"/>
          <p:cNvSpPr txBox="true"/>
          <p:nvPr/>
        </p:nvSpPr>
        <p:spPr>
          <a:xfrm rot="0">
            <a:off x="1028700" y="1047750"/>
            <a:ext cx="7031406" cy="11544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Pregunta investigativa {</a:t>
            </a:r>
          </a:p>
        </p:txBody>
      </p:sp>
      <p:sp>
        <p:nvSpPr>
          <p:cNvPr name="TextBox 7" id="7"/>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8" id="8"/>
          <p:cNvSpPr txBox="true"/>
          <p:nvPr/>
        </p:nvSpPr>
        <p:spPr>
          <a:xfrm rot="0">
            <a:off x="621634" y="2913105"/>
            <a:ext cx="7730154" cy="5828284"/>
          </a:xfrm>
          <a:prstGeom prst="rect">
            <a:avLst/>
          </a:prstGeom>
        </p:spPr>
        <p:txBody>
          <a:bodyPr anchor="t" rtlCol="false" tIns="0" lIns="0" bIns="0" rIns="0">
            <a:spAutoFit/>
          </a:bodyPr>
          <a:lstStyle/>
          <a:p>
            <a:pPr algn="l">
              <a:lnSpc>
                <a:spcPts val="5168"/>
              </a:lnSpc>
            </a:pPr>
            <a:r>
              <a:rPr lang="en-US" sz="3800">
                <a:solidFill>
                  <a:srgbClr val="FFFFFF"/>
                </a:solidFill>
                <a:latin typeface="Courier Prime"/>
                <a:ea typeface="Courier Prime"/>
                <a:cs typeface="Courier Prime"/>
                <a:sym typeface="Courier Prime"/>
              </a:rPr>
              <a:t>¿Es posible predecir de forma precisa la detección de amenazas en dispositivos Windows usando técnicas de aprendizaje automático y reducción de dimensionalidad con distintos enfoques?</a:t>
            </a:r>
          </a:p>
        </p:txBody>
      </p:sp>
      <p:sp>
        <p:nvSpPr>
          <p:cNvPr name="TextBox 9" id="9"/>
          <p:cNvSpPr txBox="true"/>
          <p:nvPr/>
        </p:nvSpPr>
        <p:spPr>
          <a:xfrm rot="0">
            <a:off x="9785428" y="7986220"/>
            <a:ext cx="8049921" cy="484615"/>
          </a:xfrm>
          <a:prstGeom prst="rect">
            <a:avLst/>
          </a:prstGeom>
        </p:spPr>
        <p:txBody>
          <a:bodyPr anchor="t" rtlCol="false" tIns="0" lIns="0" bIns="0" rIns="0">
            <a:spAutoFit/>
          </a:bodyPr>
          <a:lstStyle/>
          <a:p>
            <a:pPr algn="ctr">
              <a:lnSpc>
                <a:spcPts val="1883"/>
              </a:lnSpc>
              <a:spcBef>
                <a:spcPct val="0"/>
              </a:spcBef>
            </a:pPr>
            <a:r>
              <a:rPr lang="en-US" sz="1651">
                <a:solidFill>
                  <a:srgbClr val="FFFFFF"/>
                </a:solidFill>
                <a:latin typeface="Courier Prime"/>
                <a:ea typeface="Courier Prime"/>
                <a:cs typeface="Courier Prime"/>
                <a:sym typeface="Courier Prime"/>
              </a:rPr>
              <a:t>Enlace al reto: </a:t>
            </a:r>
          </a:p>
          <a:p>
            <a:pPr algn="ctr">
              <a:lnSpc>
                <a:spcPts val="1883"/>
              </a:lnSpc>
              <a:spcBef>
                <a:spcPct val="0"/>
              </a:spcBef>
            </a:pPr>
            <a:r>
              <a:rPr lang="en-US" sz="1651">
                <a:solidFill>
                  <a:srgbClr val="FFFFFF"/>
                </a:solidFill>
                <a:latin typeface="Courier Prime"/>
                <a:ea typeface="Courier Prime"/>
                <a:cs typeface="Courier Prime"/>
                <a:sym typeface="Courier Prime"/>
              </a:rPr>
              <a:t>https://www.kaggle.com/competitions/microsoft-malware-prediction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635463" y="2995287"/>
            <a:ext cx="6723672" cy="4507385"/>
            <a:chOff x="0" y="0"/>
            <a:chExt cx="3518720" cy="2358863"/>
          </a:xfrm>
        </p:grpSpPr>
        <p:sp>
          <p:nvSpPr>
            <p:cNvPr name="Freeform 3" id="3"/>
            <p:cNvSpPr/>
            <p:nvPr/>
          </p:nvSpPr>
          <p:spPr>
            <a:xfrm flipH="false" flipV="false" rot="0">
              <a:off x="0" y="0"/>
              <a:ext cx="3518720" cy="2358863"/>
            </a:xfrm>
            <a:custGeom>
              <a:avLst/>
              <a:gdLst/>
              <a:ahLst/>
              <a:cxnLst/>
              <a:rect r="r" b="b" t="t" l="l"/>
              <a:pathLst>
                <a:path h="2358863" w="3518720">
                  <a:moveTo>
                    <a:pt x="0" y="0"/>
                  </a:moveTo>
                  <a:lnTo>
                    <a:pt x="3518720" y="0"/>
                  </a:lnTo>
                  <a:lnTo>
                    <a:pt x="3518720" y="2358863"/>
                  </a:lnTo>
                  <a:lnTo>
                    <a:pt x="0" y="2358863"/>
                  </a:lnTo>
                  <a:close/>
                </a:path>
              </a:pathLst>
            </a:custGeom>
            <a:solidFill>
              <a:srgbClr val="2D2D35"/>
            </a:solidFill>
          </p:spPr>
        </p:sp>
      </p:grpSp>
      <p:sp>
        <p:nvSpPr>
          <p:cNvPr name="AutoShape 4" id="4"/>
          <p:cNvSpPr/>
          <p:nvPr/>
        </p:nvSpPr>
        <p:spPr>
          <a:xfrm>
            <a:off x="635463" y="2995287"/>
            <a:ext cx="0" cy="4507385"/>
          </a:xfrm>
          <a:prstGeom prst="line">
            <a:avLst/>
          </a:prstGeom>
          <a:ln cap="flat" w="76200">
            <a:solidFill>
              <a:srgbClr val="737373"/>
            </a:solidFill>
            <a:prstDash val="solid"/>
            <a:headEnd type="none" len="sm" w="sm"/>
            <a:tailEnd type="none" len="sm" w="sm"/>
          </a:ln>
        </p:spPr>
      </p:sp>
      <p:sp>
        <p:nvSpPr>
          <p:cNvPr name="Freeform 5" id="5"/>
          <p:cNvSpPr/>
          <p:nvPr/>
        </p:nvSpPr>
        <p:spPr>
          <a:xfrm flipH="false" flipV="false" rot="0">
            <a:off x="7504361" y="720143"/>
            <a:ext cx="10394431" cy="7795823"/>
          </a:xfrm>
          <a:custGeom>
            <a:avLst/>
            <a:gdLst/>
            <a:ahLst/>
            <a:cxnLst/>
            <a:rect r="r" b="b" t="t" l="l"/>
            <a:pathLst>
              <a:path h="7795823" w="10394431">
                <a:moveTo>
                  <a:pt x="0" y="0"/>
                </a:moveTo>
                <a:lnTo>
                  <a:pt x="10394431" y="0"/>
                </a:lnTo>
                <a:lnTo>
                  <a:pt x="10394431" y="7795823"/>
                </a:lnTo>
                <a:lnTo>
                  <a:pt x="0" y="7795823"/>
                </a:lnTo>
                <a:lnTo>
                  <a:pt x="0" y="0"/>
                </a:lnTo>
                <a:close/>
              </a:path>
            </a:pathLst>
          </a:custGeom>
          <a:blipFill>
            <a:blip r:embed="rId2"/>
            <a:stretch>
              <a:fillRect l="0" t="0" r="0" b="0"/>
            </a:stretch>
          </a:blipFill>
        </p:spPr>
      </p:sp>
      <p:sp>
        <p:nvSpPr>
          <p:cNvPr name="TextBox 6" id="6"/>
          <p:cNvSpPr txBox="true"/>
          <p:nvPr/>
        </p:nvSpPr>
        <p:spPr>
          <a:xfrm rot="0">
            <a:off x="1167131" y="858996"/>
            <a:ext cx="5710128" cy="1725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Planteamiento y resolución del problema {</a:t>
            </a:r>
          </a:p>
        </p:txBody>
      </p:sp>
      <p:sp>
        <p:nvSpPr>
          <p:cNvPr name="TextBox 7" id="7"/>
          <p:cNvSpPr txBox="true"/>
          <p:nvPr/>
        </p:nvSpPr>
        <p:spPr>
          <a:xfrm rot="0">
            <a:off x="845331" y="3189429"/>
            <a:ext cx="6296643" cy="3761343"/>
          </a:xfrm>
          <a:prstGeom prst="rect">
            <a:avLst/>
          </a:prstGeom>
        </p:spPr>
        <p:txBody>
          <a:bodyPr anchor="t" rtlCol="false" tIns="0" lIns="0" bIns="0" rIns="0">
            <a:spAutoFit/>
          </a:bodyPr>
          <a:lstStyle/>
          <a:p>
            <a:pPr algn="just">
              <a:lnSpc>
                <a:spcPts val="3727"/>
              </a:lnSpc>
            </a:pPr>
            <a:r>
              <a:rPr lang="en-US" sz="3080">
                <a:solidFill>
                  <a:srgbClr val="FFFFFF"/>
                </a:solidFill>
                <a:latin typeface="Courier Prime"/>
                <a:ea typeface="Courier Prime"/>
                <a:cs typeface="Courier Prime"/>
                <a:sym typeface="Courier Prime"/>
              </a:rPr>
              <a:t>La metodología usada para abordar este problema incluyó el desarrollo de distintas etapas basadas en la ruta estándar para la creación y el entrenamiento de modelos de aprendizaje automático</a:t>
            </a:r>
          </a:p>
        </p:txBody>
      </p:sp>
      <p:sp>
        <p:nvSpPr>
          <p:cNvPr name="TextBox 8" id="8"/>
          <p:cNvSpPr txBox="true"/>
          <p:nvPr/>
        </p:nvSpPr>
        <p:spPr>
          <a:xfrm rot="0">
            <a:off x="16908218" y="9510245"/>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5951747" y="4385494"/>
            <a:ext cx="9650362" cy="0"/>
          </a:xfrm>
          <a:prstGeom prst="line">
            <a:avLst/>
          </a:prstGeom>
          <a:ln cap="flat" w="95250">
            <a:solidFill>
              <a:srgbClr val="2D2D35"/>
            </a:solidFill>
            <a:prstDash val="solid"/>
            <a:headEnd type="none" len="sm" w="sm"/>
            <a:tailEnd type="none" len="sm" w="sm"/>
          </a:ln>
        </p:spPr>
      </p:sp>
      <p:sp>
        <p:nvSpPr>
          <p:cNvPr name="Freeform 3" id="3"/>
          <p:cNvSpPr/>
          <p:nvPr/>
        </p:nvSpPr>
        <p:spPr>
          <a:xfrm flipH="false" flipV="false" rot="0">
            <a:off x="11556656" y="571942"/>
            <a:ext cx="5570640" cy="6351645"/>
          </a:xfrm>
          <a:custGeom>
            <a:avLst/>
            <a:gdLst/>
            <a:ahLst/>
            <a:cxnLst/>
            <a:rect r="r" b="b" t="t" l="l"/>
            <a:pathLst>
              <a:path h="6351645" w="5570640">
                <a:moveTo>
                  <a:pt x="0" y="0"/>
                </a:moveTo>
                <a:lnTo>
                  <a:pt x="5570640" y="0"/>
                </a:lnTo>
                <a:lnTo>
                  <a:pt x="5570640" y="6351645"/>
                </a:lnTo>
                <a:lnTo>
                  <a:pt x="0" y="6351645"/>
                </a:lnTo>
                <a:lnTo>
                  <a:pt x="0" y="0"/>
                </a:lnTo>
                <a:close/>
              </a:path>
            </a:pathLst>
          </a:custGeom>
          <a:blipFill>
            <a:blip r:embed="rId2"/>
            <a:stretch>
              <a:fillRect l="0" t="0" r="0" b="0"/>
            </a:stretch>
          </a:blipFill>
        </p:spPr>
      </p:sp>
      <p:sp>
        <p:nvSpPr>
          <p:cNvPr name="TextBox 4" id="4"/>
          <p:cNvSpPr txBox="true"/>
          <p:nvPr/>
        </p:nvSpPr>
        <p:spPr>
          <a:xfrm rot="0">
            <a:off x="864559" y="590992"/>
            <a:ext cx="7963889" cy="1466850"/>
          </a:xfrm>
          <a:prstGeom prst="rect">
            <a:avLst/>
          </a:prstGeom>
        </p:spPr>
        <p:txBody>
          <a:bodyPr anchor="t" rtlCol="false" tIns="0" lIns="0" bIns="0" rIns="0">
            <a:spAutoFit/>
          </a:bodyPr>
          <a:lstStyle/>
          <a:p>
            <a:pPr algn="l">
              <a:lnSpc>
                <a:spcPts val="5700"/>
              </a:lnSpc>
            </a:pPr>
            <a:r>
              <a:rPr lang="en-US" sz="5000">
                <a:solidFill>
                  <a:srgbClr val="FFFFFF"/>
                </a:solidFill>
                <a:latin typeface="Courier Prime"/>
                <a:ea typeface="Courier Prime"/>
                <a:cs typeface="Courier Prime"/>
                <a:sym typeface="Courier Prime"/>
              </a:rPr>
              <a:t> Análisis exploratorio {</a:t>
            </a:r>
          </a:p>
        </p:txBody>
      </p:sp>
      <p:sp>
        <p:nvSpPr>
          <p:cNvPr name="TextBox 5" id="5"/>
          <p:cNvSpPr txBox="true"/>
          <p:nvPr/>
        </p:nvSpPr>
        <p:spPr>
          <a:xfrm rot="0">
            <a:off x="16776214" y="8739482"/>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6" id="6"/>
          <p:cNvSpPr txBox="true"/>
          <p:nvPr/>
        </p:nvSpPr>
        <p:spPr>
          <a:xfrm rot="0">
            <a:off x="14027518" y="6858499"/>
            <a:ext cx="858840" cy="889635"/>
          </a:xfrm>
          <a:prstGeom prst="rect">
            <a:avLst/>
          </a:prstGeom>
        </p:spPr>
        <p:txBody>
          <a:bodyPr anchor="t" rtlCol="false" tIns="0" lIns="0" bIns="0" rIns="0">
            <a:spAutoFit/>
          </a:bodyPr>
          <a:lstStyle/>
          <a:p>
            <a:pPr algn="l">
              <a:lnSpc>
                <a:spcPts val="7139"/>
              </a:lnSpc>
            </a:pPr>
            <a:r>
              <a:rPr lang="en-US" sz="5100">
                <a:solidFill>
                  <a:srgbClr val="FF914D"/>
                </a:solidFill>
                <a:latin typeface="Courier Prime"/>
                <a:ea typeface="Courier Prime"/>
                <a:cs typeface="Courier Prime"/>
                <a:sym typeface="Courier Prime"/>
              </a:rPr>
              <a:t>49</a:t>
            </a:r>
          </a:p>
        </p:txBody>
      </p:sp>
      <p:sp>
        <p:nvSpPr>
          <p:cNvPr name="TextBox 7" id="7"/>
          <p:cNvSpPr txBox="true"/>
          <p:nvPr/>
        </p:nvSpPr>
        <p:spPr>
          <a:xfrm rot="0">
            <a:off x="13641911" y="7683999"/>
            <a:ext cx="1630053" cy="332740"/>
          </a:xfrm>
          <a:prstGeom prst="rect">
            <a:avLst/>
          </a:prstGeom>
        </p:spPr>
        <p:txBody>
          <a:bodyPr anchor="t" rtlCol="false" tIns="0" lIns="0" bIns="0" rIns="0">
            <a:spAutoFit/>
          </a:bodyPr>
          <a:lstStyle/>
          <a:p>
            <a:pPr algn="l">
              <a:lnSpc>
                <a:spcPts val="2659"/>
              </a:lnSpc>
            </a:pPr>
            <a:r>
              <a:rPr lang="en-US" sz="1899">
                <a:solidFill>
                  <a:srgbClr val="FFFFFF"/>
                </a:solidFill>
                <a:latin typeface="Courier Prime"/>
                <a:ea typeface="Courier Prime"/>
                <a:cs typeface="Courier Prime"/>
                <a:sym typeface="Courier Prime"/>
              </a:rPr>
              <a:t>Categóricas</a:t>
            </a:r>
          </a:p>
        </p:txBody>
      </p:sp>
      <p:sp>
        <p:nvSpPr>
          <p:cNvPr name="TextBox 8" id="8"/>
          <p:cNvSpPr txBox="true"/>
          <p:nvPr/>
        </p:nvSpPr>
        <p:spPr>
          <a:xfrm rot="0">
            <a:off x="12377015" y="8074464"/>
            <a:ext cx="860981" cy="889635"/>
          </a:xfrm>
          <a:prstGeom prst="rect">
            <a:avLst/>
          </a:prstGeom>
        </p:spPr>
        <p:txBody>
          <a:bodyPr anchor="t" rtlCol="false" tIns="0" lIns="0" bIns="0" rIns="0">
            <a:spAutoFit/>
          </a:bodyPr>
          <a:lstStyle/>
          <a:p>
            <a:pPr algn="l">
              <a:lnSpc>
                <a:spcPts val="7139"/>
              </a:lnSpc>
            </a:pPr>
            <a:r>
              <a:rPr lang="en-US" sz="5100">
                <a:solidFill>
                  <a:srgbClr val="FF914D"/>
                </a:solidFill>
                <a:latin typeface="Courier Prime"/>
                <a:ea typeface="Courier Prime"/>
                <a:cs typeface="Courier Prime"/>
                <a:sym typeface="Courier Prime"/>
              </a:rPr>
              <a:t>13</a:t>
            </a:r>
          </a:p>
        </p:txBody>
      </p:sp>
      <p:sp>
        <p:nvSpPr>
          <p:cNvPr name="TextBox 9" id="9"/>
          <p:cNvSpPr txBox="true"/>
          <p:nvPr/>
        </p:nvSpPr>
        <p:spPr>
          <a:xfrm rot="0">
            <a:off x="12179219" y="8942070"/>
            <a:ext cx="1462692" cy="332740"/>
          </a:xfrm>
          <a:prstGeom prst="rect">
            <a:avLst/>
          </a:prstGeom>
        </p:spPr>
        <p:txBody>
          <a:bodyPr anchor="t" rtlCol="false" tIns="0" lIns="0" bIns="0" rIns="0">
            <a:spAutoFit/>
          </a:bodyPr>
          <a:lstStyle/>
          <a:p>
            <a:pPr algn="l">
              <a:lnSpc>
                <a:spcPts val="2659"/>
              </a:lnSpc>
            </a:pPr>
            <a:r>
              <a:rPr lang="en-US" sz="1899">
                <a:solidFill>
                  <a:srgbClr val="FFFFFF"/>
                </a:solidFill>
                <a:latin typeface="Courier Prime"/>
                <a:ea typeface="Courier Prime"/>
                <a:cs typeface="Courier Prime"/>
                <a:sym typeface="Courier Prime"/>
              </a:rPr>
              <a:t>Numéricas</a:t>
            </a:r>
          </a:p>
        </p:txBody>
      </p:sp>
      <p:sp>
        <p:nvSpPr>
          <p:cNvPr name="TextBox 10" id="10"/>
          <p:cNvSpPr txBox="true"/>
          <p:nvPr/>
        </p:nvSpPr>
        <p:spPr>
          <a:xfrm rot="0">
            <a:off x="864559" y="2856285"/>
            <a:ext cx="8586907" cy="6673215"/>
          </a:xfrm>
          <a:prstGeom prst="rect">
            <a:avLst/>
          </a:prstGeom>
        </p:spPr>
        <p:txBody>
          <a:bodyPr anchor="t" rtlCol="false" tIns="0" lIns="0" bIns="0" rIns="0">
            <a:spAutoFit/>
          </a:bodyPr>
          <a:lstStyle/>
          <a:p>
            <a:pPr algn="just">
              <a:lnSpc>
                <a:spcPts val="4080"/>
              </a:lnSpc>
            </a:pPr>
            <a:r>
              <a:rPr lang="en-US" sz="3000">
                <a:solidFill>
                  <a:srgbClr val="FFFFFF"/>
                </a:solidFill>
                <a:latin typeface="Courier Prime"/>
                <a:ea typeface="Courier Prime"/>
                <a:cs typeface="Courier Prime"/>
                <a:sym typeface="Courier Prime"/>
              </a:rPr>
              <a:t>A partir del análisis previo de los datos se buscó estudiar el comportamiento de cada variable para establecer un esquema de preprocesamiento eficiente.</a:t>
            </a:r>
            <a:r>
              <a:rPr lang="en-US" sz="3000">
                <a:solidFill>
                  <a:srgbClr val="FFFFFF"/>
                </a:solidFill>
                <a:latin typeface="Courier Prime"/>
                <a:ea typeface="Courier Prime"/>
                <a:cs typeface="Courier Prime"/>
                <a:sym typeface="Courier Prime"/>
              </a:rPr>
              <a:t> </a:t>
            </a:r>
          </a:p>
          <a:p>
            <a:pPr algn="just">
              <a:lnSpc>
                <a:spcPts val="4080"/>
              </a:lnSpc>
            </a:pPr>
          </a:p>
          <a:p>
            <a:pPr algn="just">
              <a:lnSpc>
                <a:spcPts val="4080"/>
              </a:lnSpc>
            </a:pPr>
            <a:r>
              <a:rPr lang="en-US" sz="3000">
                <a:solidFill>
                  <a:srgbClr val="FFFFFF"/>
                </a:solidFill>
                <a:latin typeface="Courier Prime"/>
                <a:ea typeface="Courier Prime"/>
                <a:cs typeface="Courier Prime"/>
                <a:sym typeface="Courier Prime"/>
              </a:rPr>
              <a:t>También se determinó cuáles serían los modelos a entrenar y de qué manera, teniendo  en cuenta las características del problema </a:t>
            </a:r>
          </a:p>
          <a:p>
            <a:pPr algn="just">
              <a:lnSpc>
                <a:spcPts val="4080"/>
              </a:lnSpc>
            </a:pPr>
          </a:p>
          <a:p>
            <a:pPr algn="just">
              <a:lnSpc>
                <a:spcPts val="4080"/>
              </a:lnSpc>
            </a:pPr>
            <a:r>
              <a:rPr lang="en-US" sz="3000">
                <a:solidFill>
                  <a:srgbClr val="FFFFFF"/>
                </a:solidFill>
                <a:latin typeface="Courier Prime"/>
                <a:ea typeface="Courier Prime"/>
                <a:cs typeface="Courier Prime"/>
                <a:sym typeface="Courier Prime"/>
              </a:rPr>
              <a:t>Total de columnas: 80 (sin contar el ID y el target)</a:t>
            </a:r>
          </a:p>
        </p:txBody>
      </p:sp>
      <p:sp>
        <p:nvSpPr>
          <p:cNvPr name="TextBox 11" id="11"/>
          <p:cNvSpPr txBox="true"/>
          <p:nvPr/>
        </p:nvSpPr>
        <p:spPr>
          <a:xfrm rot="0">
            <a:off x="15586651" y="8074464"/>
            <a:ext cx="840185" cy="889635"/>
          </a:xfrm>
          <a:prstGeom prst="rect">
            <a:avLst/>
          </a:prstGeom>
        </p:spPr>
        <p:txBody>
          <a:bodyPr anchor="t" rtlCol="false" tIns="0" lIns="0" bIns="0" rIns="0">
            <a:spAutoFit/>
          </a:bodyPr>
          <a:lstStyle/>
          <a:p>
            <a:pPr algn="l">
              <a:lnSpc>
                <a:spcPts val="7139"/>
              </a:lnSpc>
            </a:pPr>
            <a:r>
              <a:rPr lang="en-US" sz="5100">
                <a:solidFill>
                  <a:srgbClr val="FF914D"/>
                </a:solidFill>
                <a:latin typeface="Courier Prime"/>
                <a:ea typeface="Courier Prime"/>
                <a:cs typeface="Courier Prime"/>
                <a:sym typeface="Courier Prime"/>
              </a:rPr>
              <a:t>18</a:t>
            </a:r>
          </a:p>
        </p:txBody>
      </p:sp>
      <p:sp>
        <p:nvSpPr>
          <p:cNvPr name="TextBox 12" id="12"/>
          <p:cNvSpPr txBox="true"/>
          <p:nvPr/>
        </p:nvSpPr>
        <p:spPr>
          <a:xfrm rot="0">
            <a:off x="15351485" y="8942070"/>
            <a:ext cx="1310517" cy="332740"/>
          </a:xfrm>
          <a:prstGeom prst="rect">
            <a:avLst/>
          </a:prstGeom>
        </p:spPr>
        <p:txBody>
          <a:bodyPr anchor="t" rtlCol="false" tIns="0" lIns="0" bIns="0" rIns="0">
            <a:spAutoFit/>
          </a:bodyPr>
          <a:lstStyle/>
          <a:p>
            <a:pPr algn="l">
              <a:lnSpc>
                <a:spcPts val="2659"/>
              </a:lnSpc>
            </a:pPr>
            <a:r>
              <a:rPr lang="en-US" sz="1899">
                <a:solidFill>
                  <a:srgbClr val="FFFFFF"/>
                </a:solidFill>
                <a:latin typeface="Courier Prime"/>
                <a:ea typeface="Courier Prime"/>
                <a:cs typeface="Courier Prime"/>
                <a:sym typeface="Courier Prime"/>
              </a:rPr>
              <a:t>Booleanas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3931024" y="1382414"/>
            <a:ext cx="10425953" cy="8034679"/>
          </a:xfrm>
          <a:custGeom>
            <a:avLst/>
            <a:gdLst/>
            <a:ahLst/>
            <a:cxnLst/>
            <a:rect r="r" b="b" t="t" l="l"/>
            <a:pathLst>
              <a:path h="8034679" w="10425953">
                <a:moveTo>
                  <a:pt x="0" y="0"/>
                </a:moveTo>
                <a:lnTo>
                  <a:pt x="10425952" y="0"/>
                </a:lnTo>
                <a:lnTo>
                  <a:pt x="10425952" y="8034679"/>
                </a:lnTo>
                <a:lnTo>
                  <a:pt x="0" y="8034679"/>
                </a:lnTo>
                <a:lnTo>
                  <a:pt x="0" y="0"/>
                </a:lnTo>
                <a:close/>
              </a:path>
            </a:pathLst>
          </a:custGeom>
          <a:blipFill>
            <a:blip r:embed="rId2"/>
            <a:stretch>
              <a:fillRect l="0" t="0" r="0" b="0"/>
            </a:stretch>
          </a:blipFill>
          <a:ln w="38100" cap="sq">
            <a:solidFill>
              <a:srgbClr val="FF914D"/>
            </a:solidFill>
            <a:prstDash val="solid"/>
            <a:miter/>
          </a:ln>
        </p:spPr>
      </p:sp>
      <p:sp>
        <p:nvSpPr>
          <p:cNvPr name="Freeform 3" id="3"/>
          <p:cNvSpPr/>
          <p:nvPr/>
        </p:nvSpPr>
        <p:spPr>
          <a:xfrm flipH="false" flipV="false" rot="0">
            <a:off x="4121524" y="1737756"/>
            <a:ext cx="2269112" cy="1751271"/>
          </a:xfrm>
          <a:custGeom>
            <a:avLst/>
            <a:gdLst/>
            <a:ahLst/>
            <a:cxnLst/>
            <a:rect r="r" b="b" t="t" l="l"/>
            <a:pathLst>
              <a:path h="1751271" w="2269112">
                <a:moveTo>
                  <a:pt x="0" y="0"/>
                </a:moveTo>
                <a:lnTo>
                  <a:pt x="2269111" y="0"/>
                </a:lnTo>
                <a:lnTo>
                  <a:pt x="2269111" y="1751270"/>
                </a:lnTo>
                <a:lnTo>
                  <a:pt x="0" y="17512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121524" y="445770"/>
            <a:ext cx="10425953"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 Distribución de HasDetection {</a:t>
            </a:r>
          </a:p>
        </p:txBody>
      </p:sp>
      <p:sp>
        <p:nvSpPr>
          <p:cNvPr name="TextBox 5" id="5"/>
          <p:cNvSpPr txBox="true"/>
          <p:nvPr/>
        </p:nvSpPr>
        <p:spPr>
          <a:xfrm rot="0">
            <a:off x="14691472" y="9277350"/>
            <a:ext cx="10425953"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5951747" y="4385494"/>
            <a:ext cx="9650362" cy="0"/>
          </a:xfrm>
          <a:prstGeom prst="line">
            <a:avLst/>
          </a:prstGeom>
          <a:ln cap="flat" w="95250">
            <a:solidFill>
              <a:srgbClr val="2D2D35"/>
            </a:solidFill>
            <a:prstDash val="solid"/>
            <a:headEnd type="none" len="sm" w="sm"/>
            <a:tailEnd type="none" len="sm" w="sm"/>
          </a:ln>
        </p:spPr>
      </p:sp>
      <p:sp>
        <p:nvSpPr>
          <p:cNvPr name="Freeform 3" id="3"/>
          <p:cNvSpPr/>
          <p:nvPr/>
        </p:nvSpPr>
        <p:spPr>
          <a:xfrm flipH="false" flipV="false" rot="0">
            <a:off x="11249849" y="1269808"/>
            <a:ext cx="6434933" cy="7386512"/>
          </a:xfrm>
          <a:custGeom>
            <a:avLst/>
            <a:gdLst/>
            <a:ahLst/>
            <a:cxnLst/>
            <a:rect r="r" b="b" t="t" l="l"/>
            <a:pathLst>
              <a:path h="7386512" w="6434933">
                <a:moveTo>
                  <a:pt x="0" y="0"/>
                </a:moveTo>
                <a:lnTo>
                  <a:pt x="6434933" y="0"/>
                </a:lnTo>
                <a:lnTo>
                  <a:pt x="6434933" y="7386512"/>
                </a:lnTo>
                <a:lnTo>
                  <a:pt x="0" y="7386512"/>
                </a:lnTo>
                <a:lnTo>
                  <a:pt x="0" y="0"/>
                </a:lnTo>
                <a:close/>
              </a:path>
            </a:pathLst>
          </a:custGeom>
          <a:blipFill>
            <a:blip r:embed="rId2"/>
            <a:stretch>
              <a:fillRect l="0" t="0" r="0" b="0"/>
            </a:stretch>
          </a:blipFill>
        </p:spPr>
      </p:sp>
      <p:sp>
        <p:nvSpPr>
          <p:cNvPr name="TextBox 4" id="4"/>
          <p:cNvSpPr txBox="true"/>
          <p:nvPr/>
        </p:nvSpPr>
        <p:spPr>
          <a:xfrm rot="0">
            <a:off x="619733" y="384810"/>
            <a:ext cx="7707317" cy="11544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Limpieza y transformación de datos {</a:t>
            </a:r>
          </a:p>
        </p:txBody>
      </p:sp>
      <p:sp>
        <p:nvSpPr>
          <p:cNvPr name="TextBox 5" id="5"/>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6" id="6"/>
          <p:cNvSpPr txBox="true"/>
          <p:nvPr/>
        </p:nvSpPr>
        <p:spPr>
          <a:xfrm rot="0">
            <a:off x="772133" y="537210"/>
            <a:ext cx="7707317" cy="11544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Limpieza y transformación de datos {</a:t>
            </a:r>
          </a:p>
        </p:txBody>
      </p:sp>
      <p:sp>
        <p:nvSpPr>
          <p:cNvPr name="TextBox 7" id="7"/>
          <p:cNvSpPr txBox="true"/>
          <p:nvPr/>
        </p:nvSpPr>
        <p:spPr>
          <a:xfrm rot="0">
            <a:off x="568142" y="2615424"/>
            <a:ext cx="9250619" cy="7246879"/>
          </a:xfrm>
          <a:prstGeom prst="rect">
            <a:avLst/>
          </a:prstGeom>
        </p:spPr>
        <p:txBody>
          <a:bodyPr anchor="t" rtlCol="false" tIns="0" lIns="0" bIns="0" rIns="0">
            <a:spAutoFit/>
          </a:bodyPr>
          <a:lstStyle/>
          <a:p>
            <a:pPr algn="l" marL="507660" indent="-253830" lvl="1">
              <a:lnSpc>
                <a:spcPts val="3197"/>
              </a:lnSpc>
              <a:buFont typeface="Arial"/>
              <a:buChar char="•"/>
            </a:pPr>
            <a:r>
              <a:rPr lang="en-US" sz="2351">
                <a:solidFill>
                  <a:srgbClr val="FFFFFF"/>
                </a:solidFill>
                <a:latin typeface="Courier Prime"/>
                <a:ea typeface="Courier Prime"/>
                <a:cs typeface="Courier Prime"/>
                <a:sym typeface="Courier Prime"/>
              </a:rPr>
              <a:t>Eliminación columnas irrelevantes o con información única por fila, como MachineIdentifier.</a:t>
            </a:r>
          </a:p>
          <a:p>
            <a:pPr algn="l">
              <a:lnSpc>
                <a:spcPts val="3197"/>
              </a:lnSpc>
            </a:pPr>
          </a:p>
          <a:p>
            <a:pPr algn="l" marL="507660" indent="-253830" lvl="1">
              <a:lnSpc>
                <a:spcPts val="3197"/>
              </a:lnSpc>
              <a:buFont typeface="Arial"/>
              <a:buChar char="•"/>
            </a:pPr>
            <a:r>
              <a:rPr lang="en-US" sz="2351">
                <a:solidFill>
                  <a:srgbClr val="FFFFFF"/>
                </a:solidFill>
                <a:latin typeface="Courier Prime"/>
                <a:ea typeface="Courier Prime"/>
                <a:cs typeface="Courier Prime"/>
                <a:sym typeface="Courier Prime"/>
              </a:rPr>
              <a:t>Reducción</a:t>
            </a:r>
            <a:r>
              <a:rPr lang="en-US" sz="2351" i="true">
                <a:solidFill>
                  <a:srgbClr val="FFFFFF"/>
                </a:solidFill>
                <a:latin typeface="Courier Prime Italics"/>
                <a:ea typeface="Courier Prime Italics"/>
                <a:cs typeface="Courier Prime Italics"/>
                <a:sym typeface="Courier Prime Italics"/>
              </a:rPr>
              <a:t> </a:t>
            </a:r>
            <a:r>
              <a:rPr lang="en-US" sz="2351">
                <a:solidFill>
                  <a:srgbClr val="FFFFFF"/>
                </a:solidFill>
                <a:latin typeface="Courier Prime"/>
                <a:ea typeface="Courier Prime"/>
                <a:cs typeface="Courier Prime"/>
                <a:sym typeface="Courier Prime"/>
              </a:rPr>
              <a:t>de</a:t>
            </a:r>
            <a:r>
              <a:rPr lang="en-US" sz="2351" i="true">
                <a:solidFill>
                  <a:srgbClr val="FFFFFF"/>
                </a:solidFill>
                <a:latin typeface="Courier Prime Italics"/>
                <a:ea typeface="Courier Prime Italics"/>
                <a:cs typeface="Courier Prime Italics"/>
                <a:sym typeface="Courier Prime Italics"/>
              </a:rPr>
              <a:t> </a:t>
            </a:r>
            <a:r>
              <a:rPr lang="en-US" sz="2351">
                <a:solidFill>
                  <a:srgbClr val="FFFFFF"/>
                </a:solidFill>
                <a:latin typeface="Courier Prime"/>
                <a:ea typeface="Courier Prime"/>
                <a:cs typeface="Courier Prime"/>
                <a:sym typeface="Courier Prime"/>
              </a:rPr>
              <a:t>la cantidad de valores únicos en columnas con muchas </a:t>
            </a:r>
            <a:r>
              <a:rPr lang="en-US" sz="2351" i="true">
                <a:solidFill>
                  <a:srgbClr val="FFFFFF"/>
                </a:solidFill>
                <a:latin typeface="Courier Prime Italics"/>
                <a:ea typeface="Courier Prime Italics"/>
                <a:cs typeface="Courier Prime Italics"/>
                <a:sym typeface="Courier Prime Italics"/>
              </a:rPr>
              <a:t>clases </a:t>
            </a:r>
            <a:r>
              <a:rPr lang="en-US" sz="2351">
                <a:solidFill>
                  <a:srgbClr val="FFFFFF"/>
                </a:solidFill>
                <a:latin typeface="Courier Prime"/>
                <a:ea typeface="Courier Prime"/>
                <a:cs typeface="Courier Prime"/>
                <a:sym typeface="Courier Prime"/>
              </a:rPr>
              <a:t>con la intención de aumentar la eficiencia del procesamiento para el modelo.</a:t>
            </a:r>
          </a:p>
          <a:p>
            <a:pPr algn="l">
              <a:lnSpc>
                <a:spcPts val="3197"/>
              </a:lnSpc>
            </a:pPr>
          </a:p>
          <a:p>
            <a:pPr algn="just" marL="507660" indent="-253830" lvl="1">
              <a:lnSpc>
                <a:spcPts val="3197"/>
              </a:lnSpc>
              <a:buFont typeface="Arial"/>
              <a:buChar char="•"/>
            </a:pPr>
            <a:r>
              <a:rPr lang="en-US" sz="2351">
                <a:solidFill>
                  <a:srgbClr val="FFFFFF"/>
                </a:solidFill>
                <a:latin typeface="Courier Prime"/>
                <a:ea typeface="Courier Prime"/>
                <a:cs typeface="Courier Prime"/>
                <a:sym typeface="Courier Prime"/>
              </a:rPr>
              <a:t>Investigación</a:t>
            </a:r>
            <a:r>
              <a:rPr lang="en-US" sz="2351">
                <a:solidFill>
                  <a:srgbClr val="FFFFFF"/>
                </a:solidFill>
                <a:latin typeface="Courier Prime"/>
                <a:ea typeface="Courier Prime"/>
                <a:cs typeface="Courier Prime"/>
                <a:sym typeface="Courier Prime"/>
              </a:rPr>
              <a:t> a profundidad de cada una de las columnas y su relación con la variable objetivo HasDetection.</a:t>
            </a:r>
          </a:p>
          <a:p>
            <a:pPr algn="l">
              <a:lnSpc>
                <a:spcPts val="3197"/>
              </a:lnSpc>
            </a:pPr>
          </a:p>
          <a:p>
            <a:pPr algn="l" marL="507660" indent="-253830" lvl="1">
              <a:lnSpc>
                <a:spcPts val="3197"/>
              </a:lnSpc>
              <a:buFont typeface="Arial"/>
              <a:buChar char="•"/>
            </a:pPr>
            <a:r>
              <a:rPr lang="en-US" sz="2351">
                <a:solidFill>
                  <a:srgbClr val="FFFFFF"/>
                </a:solidFill>
                <a:latin typeface="Courier Prime"/>
                <a:ea typeface="Courier Prime"/>
                <a:cs typeface="Courier Prime"/>
                <a:sym typeface="Courier Prime"/>
              </a:rPr>
              <a:t>Imputación de valores nulos en algunas de </a:t>
            </a:r>
            <a:r>
              <a:rPr lang="en-US" sz="2351">
                <a:solidFill>
                  <a:srgbClr val="FFFFFF"/>
                </a:solidFill>
                <a:latin typeface="Courier Prime"/>
                <a:ea typeface="Courier Prime"/>
                <a:cs typeface="Courier Prime"/>
                <a:sym typeface="Courier Prime"/>
              </a:rPr>
              <a:t>las variables categóricas de texto mediante la técnica de Target Encoding y de valores nulos en variables numéricas con la media añadiendo  una variable indicadora</a:t>
            </a:r>
          </a:p>
        </p:txBody>
      </p:sp>
      <p:sp>
        <p:nvSpPr>
          <p:cNvPr name="TextBox 8" id="8"/>
          <p:cNvSpPr txBox="true"/>
          <p:nvPr/>
        </p:nvSpPr>
        <p:spPr>
          <a:xfrm rot="0">
            <a:off x="568142" y="2071746"/>
            <a:ext cx="8115300" cy="425450"/>
          </a:xfrm>
          <a:prstGeom prst="rect">
            <a:avLst/>
          </a:prstGeom>
        </p:spPr>
        <p:txBody>
          <a:bodyPr anchor="t" rtlCol="false" tIns="0" lIns="0" bIns="0" rIns="0">
            <a:spAutoFit/>
          </a:bodyPr>
          <a:lstStyle/>
          <a:p>
            <a:pPr algn="l">
              <a:lnSpc>
                <a:spcPts val="3399"/>
              </a:lnSpc>
            </a:pPr>
            <a:r>
              <a:rPr lang="en-US" sz="2499">
                <a:solidFill>
                  <a:srgbClr val="FFFFFF"/>
                </a:solidFill>
                <a:latin typeface="Courier Prime"/>
                <a:ea typeface="Courier Prime"/>
                <a:cs typeface="Courier Prime"/>
                <a:sym typeface="Courier Prime"/>
              </a:rPr>
              <a:t>Esta etapa del proyecto consistió en :</a:t>
            </a:r>
          </a:p>
        </p:txBody>
      </p:sp>
      <p:sp>
        <p:nvSpPr>
          <p:cNvPr name="TextBox 9" id="9"/>
          <p:cNvSpPr txBox="true"/>
          <p:nvPr/>
        </p:nvSpPr>
        <p:spPr>
          <a:xfrm rot="0">
            <a:off x="11601090" y="8732994"/>
            <a:ext cx="3996768" cy="735044"/>
          </a:xfrm>
          <a:prstGeom prst="rect">
            <a:avLst/>
          </a:prstGeom>
        </p:spPr>
        <p:txBody>
          <a:bodyPr anchor="t" rtlCol="false" tIns="0" lIns="0" bIns="0" rIns="0">
            <a:spAutoFit/>
          </a:bodyPr>
          <a:lstStyle/>
          <a:p>
            <a:pPr algn="l">
              <a:lnSpc>
                <a:spcPts val="5989"/>
              </a:lnSpc>
            </a:pPr>
            <a:r>
              <a:rPr lang="en-US" sz="4278">
                <a:solidFill>
                  <a:srgbClr val="FF914D"/>
                </a:solidFill>
                <a:latin typeface="Courier Prime"/>
                <a:ea typeface="Courier Prime"/>
                <a:cs typeface="Courier Prime"/>
                <a:sym typeface="Courier Prime"/>
              </a:rPr>
              <a:t>59,354,742</a:t>
            </a:r>
          </a:p>
        </p:txBody>
      </p:sp>
      <p:sp>
        <p:nvSpPr>
          <p:cNvPr name="TextBox 10" id="10"/>
          <p:cNvSpPr txBox="true"/>
          <p:nvPr/>
        </p:nvSpPr>
        <p:spPr>
          <a:xfrm rot="0">
            <a:off x="11601090" y="9439463"/>
            <a:ext cx="4179507" cy="258418"/>
          </a:xfrm>
          <a:prstGeom prst="rect">
            <a:avLst/>
          </a:prstGeom>
        </p:spPr>
        <p:txBody>
          <a:bodyPr anchor="t" rtlCol="false" tIns="0" lIns="0" bIns="0" rIns="0">
            <a:spAutoFit/>
          </a:bodyPr>
          <a:lstStyle/>
          <a:p>
            <a:pPr algn="l">
              <a:lnSpc>
                <a:spcPts val="2156"/>
              </a:lnSpc>
            </a:pPr>
            <a:r>
              <a:rPr lang="en-US" sz="1540">
                <a:solidFill>
                  <a:srgbClr val="FFFFFF"/>
                </a:solidFill>
                <a:latin typeface="Courier Prime"/>
                <a:ea typeface="Courier Prime"/>
                <a:cs typeface="Courier Prime"/>
                <a:sym typeface="Courier Prime"/>
              </a:rPr>
              <a:t>total de nulos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4164979" y="1028700"/>
            <a:ext cx="9260960" cy="9060306"/>
          </a:xfrm>
          <a:custGeom>
            <a:avLst/>
            <a:gdLst/>
            <a:ahLst/>
            <a:cxnLst/>
            <a:rect r="r" b="b" t="t" l="l"/>
            <a:pathLst>
              <a:path h="9060306" w="9260960">
                <a:moveTo>
                  <a:pt x="0" y="0"/>
                </a:moveTo>
                <a:lnTo>
                  <a:pt x="9260960" y="0"/>
                </a:lnTo>
                <a:lnTo>
                  <a:pt x="9260960" y="9060306"/>
                </a:lnTo>
                <a:lnTo>
                  <a:pt x="0" y="9060306"/>
                </a:lnTo>
                <a:lnTo>
                  <a:pt x="0" y="0"/>
                </a:lnTo>
                <a:close/>
              </a:path>
            </a:pathLst>
          </a:custGeom>
          <a:blipFill>
            <a:blip r:embed="rId2"/>
            <a:stretch>
              <a:fillRect l="0" t="0" r="0" b="0"/>
            </a:stretch>
          </a:blipFill>
        </p:spPr>
      </p:sp>
      <p:sp>
        <p:nvSpPr>
          <p:cNvPr name="TextBox 3" id="3"/>
          <p:cNvSpPr txBox="true"/>
          <p:nvPr/>
        </p:nvSpPr>
        <p:spPr>
          <a:xfrm rot="0">
            <a:off x="2905546" y="289560"/>
            <a:ext cx="7005191" cy="582930"/>
          </a:xfrm>
          <a:prstGeom prst="rect">
            <a:avLst/>
          </a:prstGeom>
        </p:spPr>
        <p:txBody>
          <a:bodyPr anchor="t" rtlCol="false" tIns="0" lIns="0" bIns="0" rIns="0">
            <a:spAutoFit/>
          </a:bodyPr>
          <a:lstStyle/>
          <a:p>
            <a:pPr algn="ctr">
              <a:lnSpc>
                <a:spcPts val="4559"/>
              </a:lnSpc>
              <a:spcBef>
                <a:spcPct val="0"/>
              </a:spcBef>
            </a:pPr>
            <a:r>
              <a:rPr lang="en-US" sz="3999">
                <a:solidFill>
                  <a:srgbClr val="FEFEFE"/>
                </a:solidFill>
                <a:latin typeface="Courier Prime"/>
                <a:ea typeface="Courier Prime"/>
                <a:cs typeface="Courier Prime"/>
                <a:sym typeface="Courier Prime"/>
              </a:rPr>
              <a:t>Matriz</a:t>
            </a:r>
            <a:r>
              <a:rPr lang="en-US" sz="3999">
                <a:solidFill>
                  <a:srgbClr val="FEFEFE"/>
                </a:solidFill>
                <a:latin typeface="Courier Prime"/>
                <a:ea typeface="Courier Prime"/>
                <a:cs typeface="Courier Prime"/>
                <a:sym typeface="Courier Prime"/>
              </a:rPr>
              <a:t> de Correlación {</a:t>
            </a:r>
          </a:p>
        </p:txBody>
      </p:sp>
      <p:sp>
        <p:nvSpPr>
          <p:cNvPr name="TextBox 4" id="4"/>
          <p:cNvSpPr txBox="true"/>
          <p:nvPr/>
        </p:nvSpPr>
        <p:spPr>
          <a:xfrm rot="0">
            <a:off x="14389174" y="9277350"/>
            <a:ext cx="304651" cy="582930"/>
          </a:xfrm>
          <a:prstGeom prst="rect">
            <a:avLst/>
          </a:prstGeom>
        </p:spPr>
        <p:txBody>
          <a:bodyPr anchor="t" rtlCol="false" tIns="0" lIns="0" bIns="0" rIns="0">
            <a:spAutoFit/>
          </a:bodyPr>
          <a:lstStyle/>
          <a:p>
            <a:pPr algn="ctr">
              <a:lnSpc>
                <a:spcPts val="4559"/>
              </a:lnSpc>
              <a:spcBef>
                <a:spcPct val="0"/>
              </a:spcBef>
            </a:pPr>
            <a:r>
              <a:rPr lang="en-US" sz="3999">
                <a:solidFill>
                  <a:srgbClr val="FEFEFE"/>
                </a:solidFill>
                <a:latin typeface="Courier Prime"/>
                <a:ea typeface="Courier Prime"/>
                <a:cs typeface="Courier Prime"/>
                <a:sym typeface="Courier Prime"/>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a:off x="1426517" y="636638"/>
            <a:ext cx="0" cy="9650362"/>
          </a:xfrm>
          <a:prstGeom prst="line">
            <a:avLst/>
          </a:prstGeom>
          <a:ln cap="flat" w="95250">
            <a:solidFill>
              <a:srgbClr val="2D2D35"/>
            </a:solidFill>
            <a:prstDash val="solid"/>
            <a:headEnd type="none" len="sm" w="sm"/>
            <a:tailEnd type="none" len="sm" w="sm"/>
          </a:ln>
        </p:spPr>
      </p:sp>
      <p:sp>
        <p:nvSpPr>
          <p:cNvPr name="Freeform 3" id="3"/>
          <p:cNvSpPr/>
          <p:nvPr/>
        </p:nvSpPr>
        <p:spPr>
          <a:xfrm flipH="false" flipV="false" rot="0">
            <a:off x="3512752" y="6618994"/>
            <a:ext cx="10676573" cy="2760427"/>
          </a:xfrm>
          <a:custGeom>
            <a:avLst/>
            <a:gdLst/>
            <a:ahLst/>
            <a:cxnLst/>
            <a:rect r="r" b="b" t="t" l="l"/>
            <a:pathLst>
              <a:path h="2760427" w="10676573">
                <a:moveTo>
                  <a:pt x="0" y="0"/>
                </a:moveTo>
                <a:lnTo>
                  <a:pt x="10676573" y="0"/>
                </a:lnTo>
                <a:lnTo>
                  <a:pt x="10676573" y="2760427"/>
                </a:lnTo>
                <a:lnTo>
                  <a:pt x="0" y="2760427"/>
                </a:lnTo>
                <a:lnTo>
                  <a:pt x="0" y="0"/>
                </a:lnTo>
                <a:close/>
              </a:path>
            </a:pathLst>
          </a:custGeom>
          <a:blipFill>
            <a:blip r:embed="rId2"/>
            <a:stretch>
              <a:fillRect l="0" t="0" r="0" b="0"/>
            </a:stretch>
          </a:blipFill>
        </p:spPr>
      </p:sp>
      <p:sp>
        <p:nvSpPr>
          <p:cNvPr name="TextBox 4" id="4"/>
          <p:cNvSpPr txBox="true"/>
          <p:nvPr/>
        </p:nvSpPr>
        <p:spPr>
          <a:xfrm rot="0">
            <a:off x="4279671" y="655688"/>
            <a:ext cx="8422140" cy="1154430"/>
          </a:xfrm>
          <a:prstGeom prst="rect">
            <a:avLst/>
          </a:prstGeom>
        </p:spPr>
        <p:txBody>
          <a:bodyPr anchor="t" rtlCol="false" tIns="0" lIns="0" bIns="0" rIns="0">
            <a:spAutoFit/>
          </a:bodyPr>
          <a:lstStyle/>
          <a:p>
            <a:pPr algn="ctr">
              <a:lnSpc>
                <a:spcPts val="4559"/>
              </a:lnSpc>
            </a:pPr>
            <a:r>
              <a:rPr lang="en-US" sz="3999">
                <a:solidFill>
                  <a:srgbClr val="FFFFFF"/>
                </a:solidFill>
                <a:latin typeface="Courier Prime"/>
                <a:ea typeface="Courier Prime"/>
                <a:cs typeface="Courier Prime"/>
                <a:sym typeface="Courier Prime"/>
              </a:rPr>
              <a:t>Ingeniería de características {</a:t>
            </a:r>
          </a:p>
        </p:txBody>
      </p:sp>
      <p:sp>
        <p:nvSpPr>
          <p:cNvPr name="TextBox 5" id="5"/>
          <p:cNvSpPr txBox="true"/>
          <p:nvPr/>
        </p:nvSpPr>
        <p:spPr>
          <a:xfrm rot="0">
            <a:off x="13838243" y="8796491"/>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6" id="6"/>
          <p:cNvSpPr txBox="true"/>
          <p:nvPr/>
        </p:nvSpPr>
        <p:spPr>
          <a:xfrm rot="0">
            <a:off x="2792155" y="2524387"/>
            <a:ext cx="11748253" cy="4094607"/>
          </a:xfrm>
          <a:prstGeom prst="rect">
            <a:avLst/>
          </a:prstGeom>
        </p:spPr>
        <p:txBody>
          <a:bodyPr anchor="t" rtlCol="false" tIns="0" lIns="0" bIns="0" rIns="0">
            <a:spAutoFit/>
          </a:bodyPr>
          <a:lstStyle/>
          <a:p>
            <a:pPr algn="just">
              <a:lnSpc>
                <a:spcPts val="3264"/>
              </a:lnSpc>
            </a:pPr>
            <a:r>
              <a:rPr lang="en-US" sz="2400">
                <a:solidFill>
                  <a:srgbClr val="FFFFFF"/>
                </a:solidFill>
                <a:latin typeface="Courier Prime"/>
                <a:ea typeface="Courier Prime"/>
                <a:cs typeface="Courier Prime"/>
                <a:sym typeface="Courier Prime"/>
              </a:rPr>
              <a:t>Se hizo el análisis de variables categóricas de alta cardinalidad para reducir dimensiones (por ejemplo, agrupando por frecuencia o seleccionando las categorías más comunes o generales)</a:t>
            </a:r>
          </a:p>
          <a:p>
            <a:pPr algn="just">
              <a:lnSpc>
                <a:spcPts val="3264"/>
              </a:lnSpc>
            </a:pPr>
          </a:p>
          <a:p>
            <a:pPr algn="just">
              <a:lnSpc>
                <a:spcPts val="3264"/>
              </a:lnSpc>
            </a:pPr>
            <a:r>
              <a:rPr lang="en-US" sz="2400">
                <a:solidFill>
                  <a:srgbClr val="FFFFFF"/>
                </a:solidFill>
                <a:latin typeface="Courier Prime"/>
                <a:ea typeface="Courier Prime"/>
                <a:cs typeface="Courier Prime"/>
                <a:sym typeface="Courier Prime"/>
              </a:rPr>
              <a:t>Además, se incorporaron columnas binarias adicionales que marcan la ausencia de datos originales, permitiendo al modelo capturar información asociada a valores faltantes.</a:t>
            </a:r>
          </a:p>
          <a:p>
            <a:pPr algn="just">
              <a:lnSpc>
                <a:spcPts val="3264"/>
              </a:lnSpc>
            </a:pPr>
          </a:p>
          <a:p>
            <a:pPr algn="just">
              <a:lnSpc>
                <a:spcPts val="326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5951747" y="4385494"/>
            <a:ext cx="9650362" cy="0"/>
          </a:xfrm>
          <a:prstGeom prst="line">
            <a:avLst/>
          </a:prstGeom>
          <a:ln cap="flat" w="95250">
            <a:solidFill>
              <a:srgbClr val="2D2D35"/>
            </a:solidFill>
            <a:prstDash val="solid"/>
            <a:headEnd type="none" len="sm" w="sm"/>
            <a:tailEnd type="none" len="sm" w="sm"/>
          </a:ln>
        </p:spPr>
      </p:sp>
      <p:sp>
        <p:nvSpPr>
          <p:cNvPr name="Freeform 3" id="3"/>
          <p:cNvSpPr/>
          <p:nvPr/>
        </p:nvSpPr>
        <p:spPr>
          <a:xfrm flipH="false" flipV="false" rot="0">
            <a:off x="4986115" y="5071443"/>
            <a:ext cx="4904987" cy="4904987"/>
          </a:xfrm>
          <a:custGeom>
            <a:avLst/>
            <a:gdLst/>
            <a:ahLst/>
            <a:cxnLst/>
            <a:rect r="r" b="b" t="t" l="l"/>
            <a:pathLst>
              <a:path h="4904987" w="4904987">
                <a:moveTo>
                  <a:pt x="0" y="0"/>
                </a:moveTo>
                <a:lnTo>
                  <a:pt x="4904988" y="0"/>
                </a:lnTo>
                <a:lnTo>
                  <a:pt x="4904988" y="4904988"/>
                </a:lnTo>
                <a:lnTo>
                  <a:pt x="0" y="4904988"/>
                </a:lnTo>
                <a:lnTo>
                  <a:pt x="0" y="0"/>
                </a:lnTo>
                <a:close/>
              </a:path>
            </a:pathLst>
          </a:custGeom>
          <a:blipFill>
            <a:blip r:embed="rId2"/>
            <a:stretch>
              <a:fillRect l="0" t="0" r="0" b="0"/>
            </a:stretch>
          </a:blipFill>
        </p:spPr>
      </p:sp>
      <p:sp>
        <p:nvSpPr>
          <p:cNvPr name="TextBox 4" id="4"/>
          <p:cNvSpPr txBox="true"/>
          <p:nvPr/>
        </p:nvSpPr>
        <p:spPr>
          <a:xfrm rot="0">
            <a:off x="1028700" y="1047750"/>
            <a:ext cx="8422140"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Entrenamiento de modelos {</a:t>
            </a:r>
          </a:p>
        </p:txBody>
      </p:sp>
      <p:sp>
        <p:nvSpPr>
          <p:cNvPr name="TextBox 5" id="5"/>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6" id="6"/>
          <p:cNvSpPr txBox="true"/>
          <p:nvPr/>
        </p:nvSpPr>
        <p:spPr>
          <a:xfrm rot="0">
            <a:off x="11048686" y="2125829"/>
            <a:ext cx="4868221" cy="2076451"/>
          </a:xfrm>
          <a:prstGeom prst="rect">
            <a:avLst/>
          </a:prstGeom>
        </p:spPr>
        <p:txBody>
          <a:bodyPr anchor="t" rtlCol="false" tIns="0" lIns="0" bIns="0" rIns="0">
            <a:spAutoFit/>
          </a:bodyPr>
          <a:lstStyle/>
          <a:p>
            <a:pPr algn="l" marL="647694" indent="-323847" lvl="1">
              <a:lnSpc>
                <a:spcPts val="4199"/>
              </a:lnSpc>
              <a:buFont typeface="Arial"/>
              <a:buChar char="•"/>
            </a:pPr>
            <a:r>
              <a:rPr lang="en-US" sz="2999">
                <a:solidFill>
                  <a:srgbClr val="FF914D"/>
                </a:solidFill>
                <a:latin typeface="Courier Prime"/>
                <a:ea typeface="Courier Prime"/>
                <a:cs typeface="Courier Prime"/>
                <a:sym typeface="Courier Prime"/>
              </a:rPr>
              <a:t>AUC: 0.7079</a:t>
            </a:r>
          </a:p>
          <a:p>
            <a:pPr algn="l" marL="647694" indent="-323847" lvl="1">
              <a:lnSpc>
                <a:spcPts val="4199"/>
              </a:lnSpc>
              <a:buFont typeface="Arial"/>
              <a:buChar char="•"/>
            </a:pPr>
            <a:r>
              <a:rPr lang="en-US" sz="2999">
                <a:solidFill>
                  <a:srgbClr val="FF914D"/>
                </a:solidFill>
                <a:latin typeface="Courier Prime"/>
                <a:ea typeface="Courier Prime"/>
                <a:cs typeface="Courier Prime"/>
                <a:sym typeface="Courier Prime"/>
              </a:rPr>
              <a:t>Accuracy: 0.647</a:t>
            </a:r>
            <a:r>
              <a:rPr lang="en-US" sz="2999">
                <a:solidFill>
                  <a:srgbClr val="FF914D"/>
                </a:solidFill>
                <a:latin typeface="Courier Prime"/>
                <a:ea typeface="Courier Prime"/>
                <a:cs typeface="Courier Prime"/>
                <a:sym typeface="Courier Prime"/>
              </a:rPr>
              <a:t>2</a:t>
            </a:r>
          </a:p>
          <a:p>
            <a:pPr algn="l" marL="647694" indent="-323847" lvl="1">
              <a:lnSpc>
                <a:spcPts val="4199"/>
              </a:lnSpc>
              <a:buFont typeface="Arial"/>
              <a:buChar char="•"/>
            </a:pPr>
            <a:r>
              <a:rPr lang="en-US" sz="2999">
                <a:solidFill>
                  <a:srgbClr val="FF914D"/>
                </a:solidFill>
                <a:latin typeface="Courier Prime"/>
                <a:ea typeface="Courier Prime"/>
                <a:cs typeface="Courier Prime"/>
                <a:sym typeface="Courier Prime"/>
              </a:rPr>
              <a:t>F1: 0.6404</a:t>
            </a:r>
          </a:p>
          <a:p>
            <a:pPr algn="l">
              <a:lnSpc>
                <a:spcPts val="4199"/>
              </a:lnSpc>
            </a:pPr>
          </a:p>
        </p:txBody>
      </p:sp>
      <p:sp>
        <p:nvSpPr>
          <p:cNvPr name="TextBox 7" id="7"/>
          <p:cNvSpPr txBox="true"/>
          <p:nvPr/>
        </p:nvSpPr>
        <p:spPr>
          <a:xfrm rot="0">
            <a:off x="10925755" y="962025"/>
            <a:ext cx="4884373" cy="1021716"/>
          </a:xfrm>
          <a:prstGeom prst="rect">
            <a:avLst/>
          </a:prstGeom>
        </p:spPr>
        <p:txBody>
          <a:bodyPr anchor="t" rtlCol="false" tIns="0" lIns="0" bIns="0" rIns="0">
            <a:spAutoFit/>
          </a:bodyPr>
          <a:lstStyle/>
          <a:p>
            <a:pPr algn="l">
              <a:lnSpc>
                <a:spcPts val="4059"/>
              </a:lnSpc>
            </a:pPr>
            <a:r>
              <a:rPr lang="en-US" b="true" sz="2899">
                <a:solidFill>
                  <a:srgbClr val="FFFFFF"/>
                </a:solidFill>
                <a:latin typeface="Courier Prime Bold"/>
                <a:ea typeface="Courier Prime Bold"/>
                <a:cs typeface="Courier Prime Bold"/>
                <a:sym typeface="Courier Prime Bold"/>
              </a:rPr>
              <a:t>LightGBM  (baseline seleccionado)</a:t>
            </a:r>
          </a:p>
        </p:txBody>
      </p:sp>
      <p:sp>
        <p:nvSpPr>
          <p:cNvPr name="TextBox 8" id="8"/>
          <p:cNvSpPr txBox="true"/>
          <p:nvPr/>
        </p:nvSpPr>
        <p:spPr>
          <a:xfrm rot="0">
            <a:off x="11048686" y="7913526"/>
            <a:ext cx="4670815" cy="1552576"/>
          </a:xfrm>
          <a:prstGeom prst="rect">
            <a:avLst/>
          </a:prstGeom>
        </p:spPr>
        <p:txBody>
          <a:bodyPr anchor="t" rtlCol="false" tIns="0" lIns="0" bIns="0" rIns="0">
            <a:spAutoFit/>
          </a:bodyPr>
          <a:lstStyle/>
          <a:p>
            <a:pPr algn="l" marL="647694" indent="-323847" lvl="1">
              <a:lnSpc>
                <a:spcPts val="4199"/>
              </a:lnSpc>
              <a:buFont typeface="Arial"/>
              <a:buChar char="•"/>
            </a:pPr>
            <a:r>
              <a:rPr lang="en-US" sz="2999">
                <a:solidFill>
                  <a:srgbClr val="FF914D"/>
                </a:solidFill>
                <a:latin typeface="Courier Prime"/>
                <a:ea typeface="Courier Prime"/>
                <a:cs typeface="Courier Prime"/>
                <a:sym typeface="Courier Prime"/>
              </a:rPr>
              <a:t>AUC: 0.5456</a:t>
            </a:r>
          </a:p>
          <a:p>
            <a:pPr algn="l" marL="647694" indent="-323847" lvl="1">
              <a:lnSpc>
                <a:spcPts val="4199"/>
              </a:lnSpc>
              <a:buFont typeface="Arial"/>
              <a:buChar char="•"/>
            </a:pPr>
            <a:r>
              <a:rPr lang="en-US" sz="2999">
                <a:solidFill>
                  <a:srgbClr val="FF914D"/>
                </a:solidFill>
                <a:latin typeface="Courier Prime"/>
                <a:ea typeface="Courier Prime"/>
                <a:cs typeface="Courier Prime"/>
                <a:sym typeface="Courier Prime"/>
              </a:rPr>
              <a:t>Accuracy: 0.5299</a:t>
            </a:r>
          </a:p>
          <a:p>
            <a:pPr algn="l">
              <a:lnSpc>
                <a:spcPts val="4199"/>
              </a:lnSpc>
            </a:pPr>
          </a:p>
        </p:txBody>
      </p:sp>
      <p:sp>
        <p:nvSpPr>
          <p:cNvPr name="TextBox 9" id="9"/>
          <p:cNvSpPr txBox="true"/>
          <p:nvPr/>
        </p:nvSpPr>
        <p:spPr>
          <a:xfrm rot="0">
            <a:off x="11048686" y="7253819"/>
            <a:ext cx="4884373" cy="490856"/>
          </a:xfrm>
          <a:prstGeom prst="rect">
            <a:avLst/>
          </a:prstGeom>
        </p:spPr>
        <p:txBody>
          <a:bodyPr anchor="t" rtlCol="false" tIns="0" lIns="0" bIns="0" rIns="0">
            <a:spAutoFit/>
          </a:bodyPr>
          <a:lstStyle/>
          <a:p>
            <a:pPr algn="l">
              <a:lnSpc>
                <a:spcPts val="3919"/>
              </a:lnSpc>
            </a:pPr>
            <a:r>
              <a:rPr lang="en-US" b="true" sz="2799">
                <a:solidFill>
                  <a:srgbClr val="FFFFFF"/>
                </a:solidFill>
                <a:latin typeface="Courier Prime Bold"/>
                <a:ea typeface="Courier Prime Bold"/>
                <a:cs typeface="Courier Prime Bold"/>
                <a:sym typeface="Courier Prime Bold"/>
              </a:rPr>
              <a:t>Logistic Regression</a:t>
            </a:r>
          </a:p>
        </p:txBody>
      </p:sp>
      <p:sp>
        <p:nvSpPr>
          <p:cNvPr name="TextBox 10" id="10"/>
          <p:cNvSpPr txBox="true"/>
          <p:nvPr/>
        </p:nvSpPr>
        <p:spPr>
          <a:xfrm rot="0">
            <a:off x="10941907" y="5057440"/>
            <a:ext cx="4317840" cy="1552576"/>
          </a:xfrm>
          <a:prstGeom prst="rect">
            <a:avLst/>
          </a:prstGeom>
        </p:spPr>
        <p:txBody>
          <a:bodyPr anchor="t" rtlCol="false" tIns="0" lIns="0" bIns="0" rIns="0">
            <a:spAutoFit/>
          </a:bodyPr>
          <a:lstStyle/>
          <a:p>
            <a:pPr algn="l" marL="647689" indent="-323844" lvl="1">
              <a:lnSpc>
                <a:spcPts val="4199"/>
              </a:lnSpc>
              <a:buFont typeface="Arial"/>
              <a:buChar char="•"/>
            </a:pPr>
            <a:r>
              <a:rPr lang="en-US" sz="2999">
                <a:solidFill>
                  <a:srgbClr val="FF914D"/>
                </a:solidFill>
                <a:latin typeface="Courier Prime"/>
                <a:ea typeface="Courier Prime"/>
                <a:cs typeface="Courier Prime"/>
                <a:sym typeface="Courier Prime"/>
              </a:rPr>
              <a:t>AUC: 0.7009</a:t>
            </a:r>
          </a:p>
          <a:p>
            <a:pPr algn="l" marL="647689" indent="-323844" lvl="1">
              <a:lnSpc>
                <a:spcPts val="4199"/>
              </a:lnSpc>
              <a:buFont typeface="Arial"/>
              <a:buChar char="•"/>
            </a:pPr>
            <a:r>
              <a:rPr lang="en-US" sz="2999">
                <a:solidFill>
                  <a:srgbClr val="FF914D"/>
                </a:solidFill>
                <a:latin typeface="Courier Prime"/>
                <a:ea typeface="Courier Prime"/>
                <a:cs typeface="Courier Prime"/>
                <a:sym typeface="Courier Prime"/>
              </a:rPr>
              <a:t>Accuracy: 0.</a:t>
            </a:r>
            <a:r>
              <a:rPr lang="en-US" sz="2999">
                <a:solidFill>
                  <a:srgbClr val="FF914D"/>
                </a:solidFill>
                <a:latin typeface="Courier Prime"/>
                <a:ea typeface="Courier Prime"/>
                <a:cs typeface="Courier Prime"/>
                <a:sym typeface="Courier Prime"/>
              </a:rPr>
              <a:t>6410</a:t>
            </a:r>
          </a:p>
          <a:p>
            <a:pPr algn="l">
              <a:lnSpc>
                <a:spcPts val="4199"/>
              </a:lnSpc>
            </a:pPr>
          </a:p>
        </p:txBody>
      </p:sp>
      <p:sp>
        <p:nvSpPr>
          <p:cNvPr name="TextBox 11" id="11"/>
          <p:cNvSpPr txBox="true"/>
          <p:nvPr/>
        </p:nvSpPr>
        <p:spPr>
          <a:xfrm rot="0">
            <a:off x="11048686" y="4564078"/>
            <a:ext cx="4884373" cy="507366"/>
          </a:xfrm>
          <a:prstGeom prst="rect">
            <a:avLst/>
          </a:prstGeom>
        </p:spPr>
        <p:txBody>
          <a:bodyPr anchor="t" rtlCol="false" tIns="0" lIns="0" bIns="0" rIns="0">
            <a:spAutoFit/>
          </a:bodyPr>
          <a:lstStyle/>
          <a:p>
            <a:pPr algn="l">
              <a:lnSpc>
                <a:spcPts val="4059"/>
              </a:lnSpc>
            </a:pPr>
            <a:r>
              <a:rPr lang="en-US" b="true" sz="2899">
                <a:solidFill>
                  <a:srgbClr val="FFFFFF"/>
                </a:solidFill>
                <a:latin typeface="Courier Prime Bold"/>
                <a:ea typeface="Courier Prime Bold"/>
                <a:cs typeface="Courier Prime Bold"/>
                <a:sym typeface="Courier Prime Bold"/>
              </a:rPr>
              <a:t>Random Forest</a:t>
            </a:r>
          </a:p>
        </p:txBody>
      </p:sp>
      <p:sp>
        <p:nvSpPr>
          <p:cNvPr name="TextBox 12" id="12"/>
          <p:cNvSpPr txBox="true"/>
          <p:nvPr/>
        </p:nvSpPr>
        <p:spPr>
          <a:xfrm rot="0">
            <a:off x="834382" y="2429867"/>
            <a:ext cx="7963889" cy="2237994"/>
          </a:xfrm>
          <a:prstGeom prst="rect">
            <a:avLst/>
          </a:prstGeom>
        </p:spPr>
        <p:txBody>
          <a:bodyPr anchor="t" rtlCol="false" tIns="0" lIns="0" bIns="0" rIns="0">
            <a:spAutoFit/>
          </a:bodyPr>
          <a:lstStyle/>
          <a:p>
            <a:pPr algn="just">
              <a:lnSpc>
                <a:spcPts val="4487"/>
              </a:lnSpc>
            </a:pPr>
            <a:r>
              <a:rPr lang="en-US" sz="3299">
                <a:solidFill>
                  <a:srgbClr val="FFFFFF"/>
                </a:solidFill>
                <a:latin typeface="Courier Prime"/>
                <a:ea typeface="Courier Prime"/>
                <a:cs typeface="Courier Prime"/>
                <a:sym typeface="Courier Prime"/>
              </a:rPr>
              <a:t>Se entrenaron tres modelos tras realizar el preprocesamiento: LightGBM, RandomForest y Logistic Regression </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0232A"/>
        </a:solidFill>
      </p:bgPr>
    </p:bg>
    <p:spTree>
      <p:nvGrpSpPr>
        <p:cNvPr id="1" name=""/>
        <p:cNvGrpSpPr/>
        <p:nvPr/>
      </p:nvGrpSpPr>
      <p:grpSpPr>
        <a:xfrm>
          <a:off x="0" y="0"/>
          <a:ext cx="0" cy="0"/>
          <a:chOff x="0" y="0"/>
          <a:chExt cx="0" cy="0"/>
        </a:xfrm>
      </p:grpSpPr>
      <p:sp>
        <p:nvSpPr>
          <p:cNvPr name="TextBox 2" id="2"/>
          <p:cNvSpPr txBox="true"/>
          <p:nvPr/>
        </p:nvSpPr>
        <p:spPr>
          <a:xfrm rot="0">
            <a:off x="1028700" y="1038225"/>
            <a:ext cx="8422140" cy="1496187"/>
          </a:xfrm>
          <a:prstGeom prst="rect">
            <a:avLst/>
          </a:prstGeom>
        </p:spPr>
        <p:txBody>
          <a:bodyPr anchor="t" rtlCol="false" tIns="0" lIns="0" bIns="0" rIns="0">
            <a:spAutoFit/>
          </a:bodyPr>
          <a:lstStyle/>
          <a:p>
            <a:pPr algn="l">
              <a:lnSpc>
                <a:spcPts val="5813"/>
              </a:lnSpc>
            </a:pPr>
            <a:r>
              <a:rPr lang="en-US" sz="5099">
                <a:solidFill>
                  <a:srgbClr val="FFFFFF"/>
                </a:solidFill>
                <a:latin typeface="Courier Prime"/>
                <a:ea typeface="Courier Prime"/>
                <a:cs typeface="Courier Prime"/>
                <a:sym typeface="Courier Prime"/>
              </a:rPr>
              <a:t>Ajuste de hiperparámetros {</a:t>
            </a:r>
          </a:p>
        </p:txBody>
      </p:sp>
      <p:sp>
        <p:nvSpPr>
          <p:cNvPr name="TextBox 3" id="3"/>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4" id="4"/>
          <p:cNvSpPr txBox="true"/>
          <p:nvPr/>
        </p:nvSpPr>
        <p:spPr>
          <a:xfrm rot="0">
            <a:off x="13619077" y="8551545"/>
            <a:ext cx="3289140" cy="863600"/>
          </a:xfrm>
          <a:prstGeom prst="rect">
            <a:avLst/>
          </a:prstGeom>
        </p:spPr>
        <p:txBody>
          <a:bodyPr anchor="t" rtlCol="false" tIns="0" lIns="0" bIns="0" rIns="0">
            <a:spAutoFit/>
          </a:bodyPr>
          <a:lstStyle/>
          <a:p>
            <a:pPr algn="l">
              <a:lnSpc>
                <a:spcPts val="7000"/>
              </a:lnSpc>
            </a:pPr>
            <a:r>
              <a:rPr lang="en-US" sz="5000">
                <a:solidFill>
                  <a:srgbClr val="FF914D"/>
                </a:solidFill>
                <a:latin typeface="Courier Prime"/>
                <a:ea typeface="Courier Prime"/>
                <a:cs typeface="Courier Prime"/>
                <a:sym typeface="Courier Prime"/>
              </a:rPr>
              <a:t>ERROR :(</a:t>
            </a:r>
          </a:p>
        </p:txBody>
      </p:sp>
      <p:sp>
        <p:nvSpPr>
          <p:cNvPr name="AutoShape 5" id="5"/>
          <p:cNvSpPr/>
          <p:nvPr/>
        </p:nvSpPr>
        <p:spPr>
          <a:xfrm>
            <a:off x="12620893" y="144964"/>
            <a:ext cx="0" cy="9650362"/>
          </a:xfrm>
          <a:prstGeom prst="line">
            <a:avLst/>
          </a:prstGeom>
          <a:ln cap="flat" w="95250">
            <a:solidFill>
              <a:srgbClr val="2D2D35"/>
            </a:solidFill>
            <a:prstDash val="solid"/>
            <a:headEnd type="none" len="sm" w="sm"/>
            <a:tailEnd type="none" len="sm" w="sm"/>
          </a:ln>
        </p:spPr>
      </p:sp>
      <p:sp>
        <p:nvSpPr>
          <p:cNvPr name="TextBox 6" id="6"/>
          <p:cNvSpPr txBox="true"/>
          <p:nvPr/>
        </p:nvSpPr>
        <p:spPr>
          <a:xfrm rot="0">
            <a:off x="1028700" y="3257585"/>
            <a:ext cx="10041801" cy="6589650"/>
          </a:xfrm>
          <a:prstGeom prst="rect">
            <a:avLst/>
          </a:prstGeom>
        </p:spPr>
        <p:txBody>
          <a:bodyPr anchor="t" rtlCol="false" tIns="0" lIns="0" bIns="0" rIns="0">
            <a:spAutoFit/>
          </a:bodyPr>
          <a:lstStyle/>
          <a:p>
            <a:pPr algn="just">
              <a:lnSpc>
                <a:spcPts val="5847"/>
              </a:lnSpc>
            </a:pPr>
            <a:r>
              <a:rPr lang="en-US" sz="4299">
                <a:solidFill>
                  <a:srgbClr val="FFFFFF"/>
                </a:solidFill>
                <a:latin typeface="Courier Prime"/>
                <a:ea typeface="Courier Prime"/>
                <a:cs typeface="Courier Prime"/>
                <a:sym typeface="Courier Prime"/>
              </a:rPr>
              <a:t>Se hizo el expermiento definiendo una función objetivo a partir de la media de tres folds de validación cruzada y tres trials de Optuna (9 iteraciones), pero los recursos a disposición imposibilitaron su completa ejecución.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TextBox 2" id="2"/>
          <p:cNvSpPr txBox="true"/>
          <p:nvPr/>
        </p:nvSpPr>
        <p:spPr>
          <a:xfrm rot="0">
            <a:off x="4932930" y="1047750"/>
            <a:ext cx="8422140" cy="1154430"/>
          </a:xfrm>
          <a:prstGeom prst="rect">
            <a:avLst/>
          </a:prstGeom>
        </p:spPr>
        <p:txBody>
          <a:bodyPr anchor="t" rtlCol="false" tIns="0" lIns="0" bIns="0" rIns="0">
            <a:spAutoFit/>
          </a:bodyPr>
          <a:lstStyle/>
          <a:p>
            <a:pPr algn="ctr">
              <a:lnSpc>
                <a:spcPts val="4559"/>
              </a:lnSpc>
            </a:pPr>
            <a:r>
              <a:rPr lang="en-US" sz="3999">
                <a:solidFill>
                  <a:srgbClr val="FFFFFF"/>
                </a:solidFill>
                <a:latin typeface="Courier Prime"/>
                <a:ea typeface="Courier Prime"/>
                <a:cs typeface="Courier Prime"/>
                <a:sym typeface="Courier Prime"/>
              </a:rPr>
              <a:t>Evaluación y validación con métricas del LightGBM {</a:t>
            </a:r>
          </a:p>
        </p:txBody>
      </p:sp>
      <p:sp>
        <p:nvSpPr>
          <p:cNvPr name="TextBox 3" id="3"/>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AutoShape 4" id="4"/>
          <p:cNvSpPr/>
          <p:nvPr/>
        </p:nvSpPr>
        <p:spPr>
          <a:xfrm>
            <a:off x="562328" y="318319"/>
            <a:ext cx="0" cy="9650362"/>
          </a:xfrm>
          <a:prstGeom prst="line">
            <a:avLst/>
          </a:prstGeom>
          <a:ln cap="flat" w="95250">
            <a:solidFill>
              <a:srgbClr val="2D2D35"/>
            </a:solidFill>
            <a:prstDash val="solid"/>
            <a:headEnd type="none" len="sm" w="sm"/>
            <a:tailEnd type="none" len="sm" w="sm"/>
          </a:ln>
        </p:spPr>
      </p:sp>
      <p:sp>
        <p:nvSpPr>
          <p:cNvPr name="Freeform 5" id="5"/>
          <p:cNvSpPr/>
          <p:nvPr/>
        </p:nvSpPr>
        <p:spPr>
          <a:xfrm flipH="false" flipV="false" rot="0">
            <a:off x="822279" y="2875170"/>
            <a:ext cx="8040746" cy="5236536"/>
          </a:xfrm>
          <a:custGeom>
            <a:avLst/>
            <a:gdLst/>
            <a:ahLst/>
            <a:cxnLst/>
            <a:rect r="r" b="b" t="t" l="l"/>
            <a:pathLst>
              <a:path h="5236536" w="8040746">
                <a:moveTo>
                  <a:pt x="0" y="0"/>
                </a:moveTo>
                <a:lnTo>
                  <a:pt x="8040746" y="0"/>
                </a:lnTo>
                <a:lnTo>
                  <a:pt x="8040746" y="5236536"/>
                </a:lnTo>
                <a:lnTo>
                  <a:pt x="0" y="5236536"/>
                </a:lnTo>
                <a:lnTo>
                  <a:pt x="0" y="0"/>
                </a:lnTo>
                <a:close/>
              </a:path>
            </a:pathLst>
          </a:custGeom>
          <a:blipFill>
            <a:blip r:embed="rId2"/>
            <a:stretch>
              <a:fillRect l="0" t="0" r="0" b="0"/>
            </a:stretch>
          </a:blipFill>
        </p:spPr>
      </p:sp>
      <p:sp>
        <p:nvSpPr>
          <p:cNvPr name="Freeform 6" id="6"/>
          <p:cNvSpPr/>
          <p:nvPr/>
        </p:nvSpPr>
        <p:spPr>
          <a:xfrm flipH="false" flipV="false" rot="0">
            <a:off x="9495082" y="2875170"/>
            <a:ext cx="8040746" cy="5236536"/>
          </a:xfrm>
          <a:custGeom>
            <a:avLst/>
            <a:gdLst/>
            <a:ahLst/>
            <a:cxnLst/>
            <a:rect r="r" b="b" t="t" l="l"/>
            <a:pathLst>
              <a:path h="5236536" w="8040746">
                <a:moveTo>
                  <a:pt x="0" y="0"/>
                </a:moveTo>
                <a:lnTo>
                  <a:pt x="8040747" y="0"/>
                </a:lnTo>
                <a:lnTo>
                  <a:pt x="8040747" y="5236536"/>
                </a:lnTo>
                <a:lnTo>
                  <a:pt x="0" y="5236536"/>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2074402" y="2695732"/>
            <a:ext cx="6464621" cy="5518579"/>
          </a:xfrm>
          <a:custGeom>
            <a:avLst/>
            <a:gdLst/>
            <a:ahLst/>
            <a:cxnLst/>
            <a:rect r="r" b="b" t="t" l="l"/>
            <a:pathLst>
              <a:path h="5518579" w="6464621">
                <a:moveTo>
                  <a:pt x="0" y="0"/>
                </a:moveTo>
                <a:lnTo>
                  <a:pt x="6464621" y="0"/>
                </a:lnTo>
                <a:lnTo>
                  <a:pt x="6464621" y="5518579"/>
                </a:lnTo>
                <a:lnTo>
                  <a:pt x="0" y="5518579"/>
                </a:lnTo>
                <a:lnTo>
                  <a:pt x="0" y="0"/>
                </a:lnTo>
                <a:close/>
              </a:path>
            </a:pathLst>
          </a:custGeom>
          <a:blipFill>
            <a:blip r:embed="rId2"/>
            <a:stretch>
              <a:fillRect l="0" t="0" r="0" b="0"/>
            </a:stretch>
          </a:blipFill>
        </p:spPr>
      </p:sp>
      <p:sp>
        <p:nvSpPr>
          <p:cNvPr name="Freeform 3" id="3"/>
          <p:cNvSpPr/>
          <p:nvPr/>
        </p:nvSpPr>
        <p:spPr>
          <a:xfrm flipH="false" flipV="false" rot="0">
            <a:off x="9783771" y="2632541"/>
            <a:ext cx="6339727" cy="5644962"/>
          </a:xfrm>
          <a:custGeom>
            <a:avLst/>
            <a:gdLst/>
            <a:ahLst/>
            <a:cxnLst/>
            <a:rect r="r" b="b" t="t" l="l"/>
            <a:pathLst>
              <a:path h="5644962" w="6339727">
                <a:moveTo>
                  <a:pt x="0" y="0"/>
                </a:moveTo>
                <a:lnTo>
                  <a:pt x="6339727" y="0"/>
                </a:lnTo>
                <a:lnTo>
                  <a:pt x="6339727" y="5644962"/>
                </a:lnTo>
                <a:lnTo>
                  <a:pt x="0" y="5644962"/>
                </a:lnTo>
                <a:lnTo>
                  <a:pt x="0" y="0"/>
                </a:lnTo>
                <a:close/>
              </a:path>
            </a:pathLst>
          </a:custGeom>
          <a:blipFill>
            <a:blip r:embed="rId3"/>
            <a:stretch>
              <a:fillRect l="0" t="0" r="0" b="0"/>
            </a:stretch>
          </a:blipFill>
        </p:spPr>
      </p:sp>
      <p:sp>
        <p:nvSpPr>
          <p:cNvPr name="TextBox 4" id="4"/>
          <p:cNvSpPr txBox="true"/>
          <p:nvPr/>
        </p:nvSpPr>
        <p:spPr>
          <a:xfrm rot="0">
            <a:off x="3070879" y="746760"/>
            <a:ext cx="6396038" cy="582930"/>
          </a:xfrm>
          <a:prstGeom prst="rect">
            <a:avLst/>
          </a:prstGeom>
        </p:spPr>
        <p:txBody>
          <a:bodyPr anchor="t" rtlCol="false" tIns="0" lIns="0" bIns="0" rIns="0">
            <a:spAutoFit/>
          </a:bodyPr>
          <a:lstStyle/>
          <a:p>
            <a:pPr algn="ctr">
              <a:lnSpc>
                <a:spcPts val="4559"/>
              </a:lnSpc>
              <a:spcBef>
                <a:spcPct val="0"/>
              </a:spcBef>
            </a:pPr>
            <a:r>
              <a:rPr lang="en-US" sz="3999">
                <a:solidFill>
                  <a:srgbClr val="FFFFFF"/>
                </a:solidFill>
                <a:latin typeface="Courier Prime"/>
                <a:ea typeface="Courier Prime"/>
                <a:cs typeface="Courier Prime"/>
                <a:sym typeface="Courier Prime"/>
              </a:rPr>
              <a:t>Matriz</a:t>
            </a:r>
            <a:r>
              <a:rPr lang="en-US" sz="3999">
                <a:solidFill>
                  <a:srgbClr val="FFFFFF"/>
                </a:solidFill>
                <a:latin typeface="Courier Prime"/>
                <a:ea typeface="Courier Prime"/>
                <a:cs typeface="Courier Prime"/>
                <a:sym typeface="Courier Prime"/>
              </a:rPr>
              <a:t> de Confusión {</a:t>
            </a:r>
          </a:p>
        </p:txBody>
      </p:sp>
      <p:sp>
        <p:nvSpPr>
          <p:cNvPr name="TextBox 5" id="5"/>
          <p:cNvSpPr txBox="true"/>
          <p:nvPr/>
        </p:nvSpPr>
        <p:spPr>
          <a:xfrm rot="0">
            <a:off x="16954649" y="8675370"/>
            <a:ext cx="304651" cy="582930"/>
          </a:xfrm>
          <a:prstGeom prst="rect">
            <a:avLst/>
          </a:prstGeom>
        </p:spPr>
        <p:txBody>
          <a:bodyPr anchor="t" rtlCol="false" tIns="0" lIns="0" bIns="0" rIns="0">
            <a:spAutoFit/>
          </a:bodyPr>
          <a:lstStyle/>
          <a:p>
            <a:pPr algn="ctr">
              <a:lnSpc>
                <a:spcPts val="4559"/>
              </a:lnSpc>
              <a:spcBef>
                <a:spcPct val="0"/>
              </a:spcBef>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241310" y="3643255"/>
            <a:ext cx="17805381" cy="3000491"/>
          </a:xfrm>
          <a:custGeom>
            <a:avLst/>
            <a:gdLst/>
            <a:ahLst/>
            <a:cxnLst/>
            <a:rect r="r" b="b" t="t" l="l"/>
            <a:pathLst>
              <a:path h="3000491" w="17805381">
                <a:moveTo>
                  <a:pt x="0" y="0"/>
                </a:moveTo>
                <a:lnTo>
                  <a:pt x="17805380" y="0"/>
                </a:lnTo>
                <a:lnTo>
                  <a:pt x="17805380" y="3000490"/>
                </a:lnTo>
                <a:lnTo>
                  <a:pt x="0" y="3000490"/>
                </a:lnTo>
                <a:lnTo>
                  <a:pt x="0" y="0"/>
                </a:lnTo>
                <a:close/>
              </a:path>
            </a:pathLst>
          </a:custGeom>
          <a:blipFill>
            <a:blip r:embed="rId2"/>
            <a:stretch>
              <a:fillRect l="0" t="0" r="0" b="0"/>
            </a:stretch>
          </a:blipFill>
          <a:ln w="38100" cap="sq">
            <a:solidFill>
              <a:srgbClr val="FF914D"/>
            </a:solidFill>
            <a:prstDash val="solid"/>
            <a:miter/>
          </a:ln>
        </p:spPr>
      </p:sp>
      <p:sp>
        <p:nvSpPr>
          <p:cNvPr name="TextBox 3" id="3"/>
          <p:cNvSpPr txBox="true"/>
          <p:nvPr/>
        </p:nvSpPr>
        <p:spPr>
          <a:xfrm rot="0">
            <a:off x="241310" y="1057275"/>
            <a:ext cx="10566039" cy="1747034"/>
          </a:xfrm>
          <a:prstGeom prst="rect">
            <a:avLst/>
          </a:prstGeom>
        </p:spPr>
        <p:txBody>
          <a:bodyPr anchor="t" rtlCol="false" tIns="0" lIns="0" bIns="0" rIns="0">
            <a:spAutoFit/>
          </a:bodyPr>
          <a:lstStyle/>
          <a:p>
            <a:pPr algn="ctr">
              <a:lnSpc>
                <a:spcPts val="6899"/>
              </a:lnSpc>
              <a:spcBef>
                <a:spcPct val="0"/>
              </a:spcBef>
            </a:pPr>
            <a:r>
              <a:rPr lang="en-US" sz="6052">
                <a:solidFill>
                  <a:srgbClr val="FFFFFF"/>
                </a:solidFill>
                <a:latin typeface="Courier Prime"/>
                <a:ea typeface="Courier Prime"/>
                <a:cs typeface="Courier Prime"/>
                <a:sym typeface="Courier Prime"/>
              </a:rPr>
              <a:t>Entrega</a:t>
            </a:r>
            <a:r>
              <a:rPr lang="en-US" sz="6052">
                <a:solidFill>
                  <a:srgbClr val="FFFFFF"/>
                </a:solidFill>
                <a:latin typeface="Courier Prime"/>
                <a:ea typeface="Courier Prime"/>
                <a:cs typeface="Courier Prime"/>
                <a:sym typeface="Courier Prime"/>
              </a:rPr>
              <a:t> en Competencia de Kaggle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a:off x="15331334" y="318319"/>
            <a:ext cx="0" cy="9650362"/>
          </a:xfrm>
          <a:prstGeom prst="line">
            <a:avLst/>
          </a:prstGeom>
          <a:ln cap="flat" w="95250">
            <a:solidFill>
              <a:srgbClr val="2D2D35"/>
            </a:solidFill>
            <a:prstDash val="solid"/>
            <a:headEnd type="none" len="sm" w="sm"/>
            <a:tailEnd type="none" len="sm" w="sm"/>
          </a:ln>
        </p:spPr>
      </p:sp>
      <p:sp>
        <p:nvSpPr>
          <p:cNvPr name="TextBox 3" id="3"/>
          <p:cNvSpPr txBox="true"/>
          <p:nvPr/>
        </p:nvSpPr>
        <p:spPr>
          <a:xfrm rot="0">
            <a:off x="1028700" y="827537"/>
            <a:ext cx="8422140" cy="742950"/>
          </a:xfrm>
          <a:prstGeom prst="rect">
            <a:avLst/>
          </a:prstGeom>
        </p:spPr>
        <p:txBody>
          <a:bodyPr anchor="t" rtlCol="false" tIns="0" lIns="0" bIns="0" rIns="0">
            <a:spAutoFit/>
          </a:bodyPr>
          <a:lstStyle/>
          <a:p>
            <a:pPr algn="l">
              <a:lnSpc>
                <a:spcPts val="5700"/>
              </a:lnSpc>
            </a:pPr>
            <a:r>
              <a:rPr lang="en-US" sz="5000">
                <a:solidFill>
                  <a:srgbClr val="FFFFFF"/>
                </a:solidFill>
                <a:latin typeface="Courier Prime"/>
                <a:ea typeface="Courier Prime"/>
                <a:cs typeface="Courier Prime"/>
                <a:sym typeface="Courier Prime"/>
              </a:rPr>
              <a:t>Conclusiones { </a:t>
            </a:r>
          </a:p>
        </p:txBody>
      </p:sp>
      <p:sp>
        <p:nvSpPr>
          <p:cNvPr name="TextBox 4" id="4"/>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5" id="5"/>
          <p:cNvSpPr txBox="true"/>
          <p:nvPr/>
        </p:nvSpPr>
        <p:spPr>
          <a:xfrm rot="0">
            <a:off x="677866" y="2071389"/>
            <a:ext cx="14271779" cy="8033893"/>
          </a:xfrm>
          <a:prstGeom prst="rect">
            <a:avLst/>
          </a:prstGeom>
        </p:spPr>
        <p:txBody>
          <a:bodyPr anchor="t" rtlCol="false" tIns="0" lIns="0" bIns="0" rIns="0">
            <a:spAutoFit/>
          </a:bodyPr>
          <a:lstStyle/>
          <a:p>
            <a:pPr algn="just" marL="604519" indent="-302260" lvl="1">
              <a:lnSpc>
                <a:spcPts val="3807"/>
              </a:lnSpc>
              <a:buFont typeface="Arial"/>
              <a:buChar char="•"/>
            </a:pPr>
            <a:r>
              <a:rPr lang="en-US" sz="2799">
                <a:solidFill>
                  <a:srgbClr val="FFFFFF"/>
                </a:solidFill>
                <a:latin typeface="Courier Prime"/>
                <a:ea typeface="Courier Prime"/>
                <a:cs typeface="Courier Prime"/>
                <a:sym typeface="Courier Prime"/>
              </a:rPr>
              <a:t> Es posible predecir con decente precisión la probabilidad de que un dispositivo esté infectado por malware utilizando modelos de aprendizaje automático aplicados sobre datos reales recolectados por Microsoft</a:t>
            </a:r>
          </a:p>
          <a:p>
            <a:pPr algn="just">
              <a:lnSpc>
                <a:spcPts val="3807"/>
              </a:lnSpc>
            </a:pPr>
          </a:p>
          <a:p>
            <a:pPr algn="just" marL="604519" indent="-302260" lvl="1">
              <a:lnSpc>
                <a:spcPts val="3807"/>
              </a:lnSpc>
              <a:buFont typeface="Arial"/>
              <a:buChar char="•"/>
            </a:pPr>
            <a:r>
              <a:rPr lang="en-US" sz="2799">
                <a:solidFill>
                  <a:srgbClr val="FFFFFF"/>
                </a:solidFill>
                <a:latin typeface="Courier Prime"/>
                <a:ea typeface="Courier Prime"/>
                <a:cs typeface="Courier Prime"/>
                <a:sym typeface="Courier Prime"/>
              </a:rPr>
              <a:t>La limpieza y transformación de datos fue clave para manejar inconsistencias, valores faltantes y categorías de alta cardinalidad que podrían afectar el rendimiento del modelo.</a:t>
            </a:r>
          </a:p>
          <a:p>
            <a:pPr algn="just">
              <a:lnSpc>
                <a:spcPts val="3807"/>
              </a:lnSpc>
            </a:pPr>
          </a:p>
          <a:p>
            <a:pPr algn="just" marL="604519" indent="-302260" lvl="1">
              <a:lnSpc>
                <a:spcPts val="3807"/>
              </a:lnSpc>
              <a:buFont typeface="Arial"/>
              <a:buChar char="•"/>
            </a:pPr>
            <a:r>
              <a:rPr lang="en-US" sz="2799">
                <a:solidFill>
                  <a:srgbClr val="FFFFFF"/>
                </a:solidFill>
                <a:latin typeface="Courier Prime"/>
                <a:ea typeface="Courier Prime"/>
                <a:cs typeface="Courier Prime"/>
                <a:sym typeface="Courier Prime"/>
              </a:rPr>
              <a:t>El LightGBM baseline fue el modelo de mejor rendimiento general y se toma como referencia principal por su accuracy, recall y AUC-ROC.</a:t>
            </a:r>
          </a:p>
          <a:p>
            <a:pPr algn="just">
              <a:lnSpc>
                <a:spcPts val="3807"/>
              </a:lnSpc>
            </a:pPr>
          </a:p>
          <a:p>
            <a:pPr algn="just" marL="604519" indent="-302260" lvl="1">
              <a:lnSpc>
                <a:spcPts val="3807"/>
              </a:lnSpc>
              <a:buFont typeface="Arial"/>
              <a:buChar char="•"/>
            </a:pPr>
            <a:r>
              <a:rPr lang="en-US" sz="2799">
                <a:solidFill>
                  <a:srgbClr val="FFFFFF"/>
                </a:solidFill>
                <a:latin typeface="Courier Prime"/>
                <a:ea typeface="Courier Prime"/>
                <a:cs typeface="Courier Prime"/>
                <a:sym typeface="Courier Prime"/>
              </a:rPr>
              <a:t>Si bien el modelo puede ser útil como herramienta de apoyo, no reemplaza sistemas de protección en tiempo real, y su efectividad depende de la calidad y actualidad de los datos.</a:t>
            </a:r>
          </a:p>
          <a:p>
            <a:pPr algn="l">
              <a:lnSpc>
                <a:spcPts val="3264"/>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2839732" y="3931089"/>
            <a:ext cx="8741551" cy="0"/>
          </a:xfrm>
          <a:prstGeom prst="line">
            <a:avLst/>
          </a:prstGeom>
          <a:ln cap="flat" w="95250">
            <a:solidFill>
              <a:srgbClr val="2D2D35"/>
            </a:solidFill>
            <a:prstDash val="solid"/>
            <a:headEnd type="none" len="sm" w="sm"/>
            <a:tailEnd type="none" len="sm" w="sm"/>
          </a:ln>
        </p:spPr>
      </p:sp>
      <p:sp>
        <p:nvSpPr>
          <p:cNvPr name="Freeform 3" id="3"/>
          <p:cNvSpPr/>
          <p:nvPr/>
        </p:nvSpPr>
        <p:spPr>
          <a:xfrm flipH="false" flipV="false" rot="0">
            <a:off x="10526607" y="3402418"/>
            <a:ext cx="4947071" cy="4947071"/>
          </a:xfrm>
          <a:custGeom>
            <a:avLst/>
            <a:gdLst/>
            <a:ahLst/>
            <a:cxnLst/>
            <a:rect r="r" b="b" t="t" l="l"/>
            <a:pathLst>
              <a:path h="4947071" w="4947071">
                <a:moveTo>
                  <a:pt x="0" y="0"/>
                </a:moveTo>
                <a:lnTo>
                  <a:pt x="4947071" y="0"/>
                </a:lnTo>
                <a:lnTo>
                  <a:pt x="4947071" y="4947071"/>
                </a:lnTo>
                <a:lnTo>
                  <a:pt x="0" y="49470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37186" y="3245316"/>
            <a:ext cx="10718760" cy="1324177"/>
          </a:xfrm>
          <a:prstGeom prst="rect">
            <a:avLst/>
          </a:prstGeom>
        </p:spPr>
        <p:txBody>
          <a:bodyPr anchor="t" rtlCol="false" tIns="0" lIns="0" bIns="0" rIns="0">
            <a:spAutoFit/>
          </a:bodyPr>
          <a:lstStyle/>
          <a:p>
            <a:pPr algn="l">
              <a:lnSpc>
                <a:spcPts val="10397"/>
              </a:lnSpc>
            </a:pPr>
            <a:r>
              <a:rPr lang="en-US" sz="9120">
                <a:solidFill>
                  <a:srgbClr val="FFFFFF"/>
                </a:solidFill>
                <a:latin typeface="Courier Prime"/>
                <a:ea typeface="Courier Prime"/>
                <a:cs typeface="Courier Prime"/>
                <a:sym typeface="Courier Prime"/>
              </a:rPr>
              <a:t>Gracias {</a:t>
            </a:r>
          </a:p>
        </p:txBody>
      </p:sp>
      <p:sp>
        <p:nvSpPr>
          <p:cNvPr name="TextBox 5" id="5"/>
          <p:cNvSpPr txBox="true"/>
          <p:nvPr/>
        </p:nvSpPr>
        <p:spPr>
          <a:xfrm rot="0">
            <a:off x="2415791" y="6536903"/>
            <a:ext cx="2471972" cy="1607392"/>
          </a:xfrm>
          <a:prstGeom prst="rect">
            <a:avLst/>
          </a:prstGeom>
        </p:spPr>
        <p:txBody>
          <a:bodyPr anchor="t" rtlCol="false" tIns="0" lIns="0" bIns="0" rIns="0">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
        <p:nvSpPr>
          <p:cNvPr name="TextBox 6" id="6"/>
          <p:cNvSpPr txBox="true"/>
          <p:nvPr/>
        </p:nvSpPr>
        <p:spPr>
          <a:xfrm rot="0">
            <a:off x="2194891" y="2085555"/>
            <a:ext cx="11259224" cy="474154"/>
          </a:xfrm>
          <a:prstGeom prst="rect">
            <a:avLst/>
          </a:prstGeom>
        </p:spPr>
        <p:txBody>
          <a:bodyPr anchor="t" rtlCol="false" tIns="0" lIns="0" bIns="0" rIns="0">
            <a:spAutoFit/>
          </a:bodyPr>
          <a:lstStyle/>
          <a:p>
            <a:pPr algn="l">
              <a:lnSpc>
                <a:spcPts val="3830"/>
              </a:lnSpc>
            </a:pPr>
            <a:r>
              <a:rPr lang="en-US" sz="2736">
                <a:solidFill>
                  <a:srgbClr val="8F8F8F"/>
                </a:solidFill>
                <a:latin typeface="Courier Prime"/>
                <a:ea typeface="Courier Prime"/>
                <a:cs typeface="Courier Prime"/>
                <a:sym typeface="Courier Prime"/>
              </a:rPr>
              <a:t>&lt;!--APRENDIZAJE AUTOMÁTICO--&gt;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DAGteND9g7s</dc:identifier>
  <dcterms:modified xsi:type="dcterms:W3CDTF">2011-08-01T06:04:30Z</dcterms:modified>
  <cp:revision>1</cp:revision>
  <dc:title>Presentación Técnica Código Programación Minimalista Gris</dc:title>
</cp:coreProperties>
</file>